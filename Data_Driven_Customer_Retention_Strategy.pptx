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Poppins" panose="00000500000000000000" pitchFamily="2" charset="0"/>
      <p:regular r:id="rId8"/>
    </p:embeddedFont>
    <p:embeddedFont>
      <p:font typeface="Poppins Bold" panose="00000800000000000000" charset="0"/>
      <p:regular r:id="rId9"/>
    </p:embeddedFont>
    <p:embeddedFont>
      <p:font typeface="Tex Gyre Termes" panose="020B0604020202020204" charset="0"/>
      <p:regular r:id="rId10"/>
    </p:embeddedFont>
    <p:embeddedFont>
      <p:font typeface="Tex Gyre Termes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6" d="100"/>
          <a:sy n="36" d="100"/>
        </p:scale>
        <p:origin x="1518" y="8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519365"/>
            <a:ext cx="6782896" cy="983696"/>
            <a:chOff x="0" y="0"/>
            <a:chExt cx="1786442" cy="2590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6442" cy="259081"/>
            </a:xfrm>
            <a:custGeom>
              <a:avLst/>
              <a:gdLst/>
              <a:ahLst/>
              <a:cxnLst/>
              <a:rect l="l" t="t" r="r" b="b"/>
              <a:pathLst>
                <a:path w="1786442" h="259081">
                  <a:moveTo>
                    <a:pt x="58211" y="0"/>
                  </a:moveTo>
                  <a:lnTo>
                    <a:pt x="1728231" y="0"/>
                  </a:lnTo>
                  <a:cubicBezTo>
                    <a:pt x="1760380" y="0"/>
                    <a:pt x="1786442" y="26062"/>
                    <a:pt x="1786442" y="58211"/>
                  </a:cubicBezTo>
                  <a:lnTo>
                    <a:pt x="1786442" y="200870"/>
                  </a:lnTo>
                  <a:cubicBezTo>
                    <a:pt x="1786442" y="233019"/>
                    <a:pt x="1760380" y="259081"/>
                    <a:pt x="1728231" y="259081"/>
                  </a:cubicBezTo>
                  <a:lnTo>
                    <a:pt x="58211" y="259081"/>
                  </a:lnTo>
                  <a:cubicBezTo>
                    <a:pt x="26062" y="259081"/>
                    <a:pt x="0" y="233019"/>
                    <a:pt x="0" y="200870"/>
                  </a:cubicBezTo>
                  <a:lnTo>
                    <a:pt x="0" y="58211"/>
                  </a:lnTo>
                  <a:cubicBezTo>
                    <a:pt x="0" y="26062"/>
                    <a:pt x="26062" y="0"/>
                    <a:pt x="58211" y="0"/>
                  </a:cubicBezTo>
                  <a:close/>
                </a:path>
              </a:pathLst>
            </a:custGeom>
            <a:solidFill>
              <a:srgbClr val="411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86442" cy="316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96361" y="1028700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3092112"/>
            <a:ext cx="9657567" cy="173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Telecom Churn Analysis &amp; Revenue Protection Report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9828" y="5615332"/>
            <a:ext cx="6620639" cy="677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sz="37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Turning Data Into Insights</a:t>
            </a:r>
          </a:p>
        </p:txBody>
      </p:sp>
      <p:sp>
        <p:nvSpPr>
          <p:cNvPr id="8" name="Freeform 8"/>
          <p:cNvSpPr/>
          <p:nvPr/>
        </p:nvSpPr>
        <p:spPr>
          <a:xfrm>
            <a:off x="1028700" y="8055636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8"/>
                </a:lnTo>
                <a:lnTo>
                  <a:pt x="0" y="1183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686267" y="2603390"/>
            <a:ext cx="5300548" cy="5319893"/>
          </a:xfrm>
          <a:custGeom>
            <a:avLst/>
            <a:gdLst/>
            <a:ahLst/>
            <a:cxnLst/>
            <a:rect l="l" t="t" r="r" b="b"/>
            <a:pathLst>
              <a:path w="5300548" h="5319893">
                <a:moveTo>
                  <a:pt x="0" y="0"/>
                </a:moveTo>
                <a:lnTo>
                  <a:pt x="5300548" y="0"/>
                </a:lnTo>
                <a:lnTo>
                  <a:pt x="5300548" y="5319893"/>
                </a:lnTo>
                <a:lnTo>
                  <a:pt x="0" y="5319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67404"/>
            <a:ext cx="13714869" cy="68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Execu</a:t>
            </a:r>
            <a:r>
              <a:rPr lang="en-US" sz="4000" u="none" strike="noStrike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tive Summary: The Customer Retention Crisis</a:t>
            </a:r>
          </a:p>
        </p:txBody>
      </p:sp>
      <p:sp>
        <p:nvSpPr>
          <p:cNvPr id="3" name="Freeform 3"/>
          <p:cNvSpPr/>
          <p:nvPr/>
        </p:nvSpPr>
        <p:spPr>
          <a:xfrm>
            <a:off x="10999877" y="2234956"/>
            <a:ext cx="5097884" cy="5817087"/>
          </a:xfrm>
          <a:custGeom>
            <a:avLst/>
            <a:gdLst/>
            <a:ahLst/>
            <a:cxnLst/>
            <a:rect l="l" t="t" r="r" b="b"/>
            <a:pathLst>
              <a:path w="5097884" h="5817087">
                <a:moveTo>
                  <a:pt x="0" y="0"/>
                </a:moveTo>
                <a:lnTo>
                  <a:pt x="5097884" y="0"/>
                </a:lnTo>
                <a:lnTo>
                  <a:pt x="5097884" y="5817088"/>
                </a:lnTo>
                <a:lnTo>
                  <a:pt x="0" y="5817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499055"/>
            <a:ext cx="13714869" cy="85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 b="1" u="none" strike="noStrik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The Business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596507"/>
            <a:ext cx="8366795" cy="489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Challenge: 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company is facing a critical customer defection (churn) issue, resulting in an estimated 1.6</a:t>
            </a:r>
            <a:r>
              <a:rPr lang="ar-SA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 $ in annualized revenue loss.</a:t>
            </a:r>
          </a:p>
          <a:p>
            <a:pPr algn="l">
              <a:lnSpc>
                <a:spcPts val="3220"/>
              </a:lnSpc>
            </a:pPr>
            <a:endParaRPr lang="en-US" sz="20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Objective: 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systematically analyze customer behavior, identify the primary operational and product drivers of churn, and deploy data-driven strategies to protect revenue and market share.</a:t>
            </a:r>
          </a:p>
          <a:p>
            <a:pPr algn="l">
              <a:lnSpc>
                <a:spcPts val="3220"/>
              </a:lnSpc>
            </a:pPr>
            <a:endParaRPr lang="en-US" sz="20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Strategic Focus: 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Moving from descriptive metrics to actionable, high-impact business retention programs.</a:t>
            </a:r>
          </a:p>
          <a:p>
            <a:pPr algn="l">
              <a:lnSpc>
                <a:spcPts val="3220"/>
              </a:lnSpc>
            </a:pPr>
            <a:endParaRPr lang="en-US" sz="20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67404"/>
            <a:ext cx="13714869" cy="68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Teleco</a:t>
            </a:r>
            <a:r>
              <a:rPr lang="en-US" sz="4000" u="none" strike="noStrike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m Churn Analysis &amp; Financial Exposure Dashboard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499055"/>
            <a:ext cx="15655260" cy="85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72"/>
              </a:lnSpc>
              <a:spcBef>
                <a:spcPct val="0"/>
              </a:spcBef>
            </a:pPr>
            <a:r>
              <a:rPr lang="en-US" sz="4980" b="1" u="none" strike="noStrik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The Interactive Executive Dashboard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944600" y="3050117"/>
            <a:ext cx="3313645" cy="6131983"/>
            <a:chOff x="0" y="0"/>
            <a:chExt cx="872730" cy="16150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72730" cy="1615008"/>
            </a:xfrm>
            <a:custGeom>
              <a:avLst/>
              <a:gdLst/>
              <a:ahLst/>
              <a:cxnLst/>
              <a:rect l="l" t="t" r="r" b="b"/>
              <a:pathLst>
                <a:path w="872730" h="1615008">
                  <a:moveTo>
                    <a:pt x="119155" y="0"/>
                  </a:moveTo>
                  <a:lnTo>
                    <a:pt x="753574" y="0"/>
                  </a:lnTo>
                  <a:cubicBezTo>
                    <a:pt x="785176" y="0"/>
                    <a:pt x="815484" y="12554"/>
                    <a:pt x="837830" y="34900"/>
                  </a:cubicBezTo>
                  <a:cubicBezTo>
                    <a:pt x="860176" y="57246"/>
                    <a:pt x="872730" y="87553"/>
                    <a:pt x="872730" y="119155"/>
                  </a:cubicBezTo>
                  <a:lnTo>
                    <a:pt x="872730" y="1495853"/>
                  </a:lnTo>
                  <a:cubicBezTo>
                    <a:pt x="872730" y="1527455"/>
                    <a:pt x="860176" y="1557762"/>
                    <a:pt x="837830" y="1580108"/>
                  </a:cubicBezTo>
                  <a:cubicBezTo>
                    <a:pt x="815484" y="1602454"/>
                    <a:pt x="785176" y="1615008"/>
                    <a:pt x="753574" y="1615008"/>
                  </a:cubicBezTo>
                  <a:lnTo>
                    <a:pt x="119155" y="1615008"/>
                  </a:lnTo>
                  <a:cubicBezTo>
                    <a:pt x="87553" y="1615008"/>
                    <a:pt x="57246" y="1602454"/>
                    <a:pt x="34900" y="1580108"/>
                  </a:cubicBezTo>
                  <a:cubicBezTo>
                    <a:pt x="12554" y="1557762"/>
                    <a:pt x="0" y="1527455"/>
                    <a:pt x="0" y="1495853"/>
                  </a:cubicBezTo>
                  <a:lnTo>
                    <a:pt x="0" y="119155"/>
                  </a:lnTo>
                  <a:cubicBezTo>
                    <a:pt x="0" y="87553"/>
                    <a:pt x="12554" y="57246"/>
                    <a:pt x="34900" y="34900"/>
                  </a:cubicBezTo>
                  <a:cubicBezTo>
                    <a:pt x="57246" y="12554"/>
                    <a:pt x="87553" y="0"/>
                    <a:pt x="119155" y="0"/>
                  </a:cubicBez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872730" cy="1681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499"/>
                </a:lnSpc>
              </a:pPr>
              <a:endParaRPr dirty="0"/>
            </a:p>
            <a:p>
              <a:pPr>
                <a:lnSpc>
                  <a:spcPts val="3499"/>
                </a:lnSpc>
              </a:pPr>
              <a:endParaRPr dirty="0"/>
            </a:p>
            <a:p>
              <a:pPr marL="388620" lvl="1" indent="-194310">
                <a:lnSpc>
                  <a:spcPts val="2520"/>
                </a:lnSpc>
                <a:buFont typeface="Arial"/>
                <a:buChar char="•"/>
              </a:pPr>
              <a:r>
                <a:rPr lang="en-US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Financial Impact KPI: Highlighting the 1.6</a:t>
              </a:r>
              <a:r>
                <a:rPr lang="ar-SA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4</a:t>
              </a:r>
              <a:r>
                <a:rPr lang="en-US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 $ total exposure.</a:t>
              </a:r>
            </a:p>
            <a:p>
              <a:pPr>
                <a:lnSpc>
                  <a:spcPts val="2520"/>
                </a:lnSpc>
              </a:pPr>
              <a:endParaRPr lang="en-US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388620" lvl="1" indent="-194310">
                <a:lnSpc>
                  <a:spcPts val="2520"/>
                </a:lnSpc>
                <a:buFont typeface="Arial"/>
                <a:buChar char="•"/>
              </a:pPr>
              <a:r>
                <a:rPr lang="en-US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Risk Segmentation: Clear breakdown of contracts and service types.</a:t>
              </a:r>
            </a:p>
            <a:p>
              <a:pPr>
                <a:lnSpc>
                  <a:spcPts val="2520"/>
                </a:lnSpc>
              </a:pPr>
              <a:endParaRPr lang="en-US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388620" lvl="1" indent="-194310">
                <a:lnSpc>
                  <a:spcPts val="2520"/>
                </a:lnSpc>
                <a:buFont typeface="Arial"/>
                <a:buChar char="•"/>
              </a:pPr>
              <a:r>
                <a:rPr lang="en-US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Time-Series Tracking: The Cumulative Revenue Exposure line chart.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144373" y="3238107"/>
            <a:ext cx="2914098" cy="1050440"/>
            <a:chOff x="0" y="0"/>
            <a:chExt cx="767499" cy="2766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7499" cy="276659"/>
            </a:xfrm>
            <a:custGeom>
              <a:avLst/>
              <a:gdLst/>
              <a:ahLst/>
              <a:cxnLst/>
              <a:rect l="l" t="t" r="r" b="b"/>
              <a:pathLst>
                <a:path w="767499" h="276659">
                  <a:moveTo>
                    <a:pt x="82358" y="0"/>
                  </a:moveTo>
                  <a:lnTo>
                    <a:pt x="685141" y="0"/>
                  </a:lnTo>
                  <a:cubicBezTo>
                    <a:pt x="730626" y="0"/>
                    <a:pt x="767499" y="36873"/>
                    <a:pt x="767499" y="82358"/>
                  </a:cubicBezTo>
                  <a:lnTo>
                    <a:pt x="767499" y="194301"/>
                  </a:lnTo>
                  <a:cubicBezTo>
                    <a:pt x="767499" y="216144"/>
                    <a:pt x="758822" y="237092"/>
                    <a:pt x="743377" y="252537"/>
                  </a:cubicBezTo>
                  <a:cubicBezTo>
                    <a:pt x="727932" y="267982"/>
                    <a:pt x="706984" y="276659"/>
                    <a:pt x="685141" y="276659"/>
                  </a:cubicBezTo>
                  <a:lnTo>
                    <a:pt x="82358" y="276659"/>
                  </a:lnTo>
                  <a:cubicBezTo>
                    <a:pt x="36873" y="276659"/>
                    <a:pt x="0" y="239786"/>
                    <a:pt x="0" y="194301"/>
                  </a:cubicBezTo>
                  <a:lnTo>
                    <a:pt x="0" y="82358"/>
                  </a:lnTo>
                  <a:cubicBezTo>
                    <a:pt x="0" y="36873"/>
                    <a:pt x="36873" y="0"/>
                    <a:pt x="82358" y="0"/>
                  </a:cubicBezTo>
                  <a:close/>
                </a:path>
              </a:pathLst>
            </a:custGeom>
            <a:solidFill>
              <a:srgbClr val="411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767499" cy="343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715347" y="3553593"/>
            <a:ext cx="3772150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Visual Elements: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13" name="Add-in 12" title="Microsoft Power BI">
                <a:extLst>
                  <a:ext uri="{FF2B5EF4-FFF2-40B4-BE49-F238E27FC236}">
                    <a16:creationId xmlns:a16="http://schemas.microsoft.com/office/drawing/2014/main" id="{E6807D20-7BC9-E736-942B-2DE666D1F8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0039035"/>
                  </p:ext>
                </p:extLst>
              </p:nvPr>
            </p:nvGraphicFramePr>
            <p:xfrm>
              <a:off x="1371600" y="3233137"/>
              <a:ext cx="11582399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3" name="Add-in 12" title="Microsoft Power BI">
                <a:extLst>
                  <a:ext uri="{FF2B5EF4-FFF2-40B4-BE49-F238E27FC236}">
                    <a16:creationId xmlns:a16="http://schemas.microsoft.com/office/drawing/2014/main" id="{E6807D20-7BC9-E736-942B-2DE666D1F8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1600" y="3233137"/>
                <a:ext cx="11582399" cy="571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484141"/>
            <a:ext cx="8366795" cy="5304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Contractual Vulnerability: 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Month-to-Month contracts represent the most unstable customer segment and act as the primary catalyst for revenue leakage.</a:t>
            </a:r>
          </a:p>
          <a:p>
            <a:pPr algn="l">
              <a:lnSpc>
                <a:spcPts val="3220"/>
              </a:lnSpc>
            </a:pPr>
            <a:endParaRPr lang="en-US" sz="20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Performance Deficit: 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Fiber Optic services exhibit an unexpectedly high and disproportionate churn rate, despite being a premium, high-revenue product line.</a:t>
            </a:r>
          </a:p>
          <a:p>
            <a:pPr algn="l">
              <a:lnSpc>
                <a:spcPts val="3220"/>
              </a:lnSpc>
            </a:pPr>
            <a:endParaRPr lang="en-US" sz="20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Tenure Risk Horizon: 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Time-series analysis confirms that customer loss is heavily concentrated in the early lifecycle phase, specifically within the first 0 to 12 months of onboarding.</a:t>
            </a:r>
          </a:p>
          <a:p>
            <a:pPr algn="l">
              <a:lnSpc>
                <a:spcPts val="3220"/>
              </a:lnSpc>
            </a:pPr>
            <a:endParaRPr lang="en-US" sz="20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499055"/>
            <a:ext cx="13714869" cy="85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Strat</a:t>
            </a:r>
            <a:r>
              <a:rPr lang="en-US" sz="5000" b="1" u="none" strike="noStrik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egic Insights &amp; Key Churn Drivers</a:t>
            </a:r>
          </a:p>
        </p:txBody>
      </p:sp>
      <p:sp>
        <p:nvSpPr>
          <p:cNvPr id="4" name="Freeform 4"/>
          <p:cNvSpPr/>
          <p:nvPr/>
        </p:nvSpPr>
        <p:spPr>
          <a:xfrm>
            <a:off x="11364877" y="2123615"/>
            <a:ext cx="4597855" cy="5800047"/>
          </a:xfrm>
          <a:custGeom>
            <a:avLst/>
            <a:gdLst/>
            <a:ahLst/>
            <a:cxnLst/>
            <a:rect l="l" t="t" r="r" b="b"/>
            <a:pathLst>
              <a:path w="4597855" h="5800047">
                <a:moveTo>
                  <a:pt x="0" y="0"/>
                </a:moveTo>
                <a:lnTo>
                  <a:pt x="4597856" y="0"/>
                </a:lnTo>
                <a:lnTo>
                  <a:pt x="4597856" y="5800047"/>
                </a:lnTo>
                <a:lnTo>
                  <a:pt x="0" y="5800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2267404"/>
            <a:ext cx="13714869" cy="68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Data</a:t>
            </a:r>
            <a:r>
              <a:rPr lang="en-US" sz="4000" u="none" strike="noStrike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 Storytelling: Pinpointing the Root Causes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175036"/>
            <a:ext cx="5206345" cy="5379085"/>
            <a:chOff x="0" y="0"/>
            <a:chExt cx="1371218" cy="14167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218" cy="1416714"/>
            </a:xfrm>
            <a:custGeom>
              <a:avLst/>
              <a:gdLst/>
              <a:ahLst/>
              <a:cxnLst/>
              <a:rect l="l" t="t" r="r" b="b"/>
              <a:pathLst>
                <a:path w="1371218" h="1416714">
                  <a:moveTo>
                    <a:pt x="75838" y="0"/>
                  </a:moveTo>
                  <a:lnTo>
                    <a:pt x="1295381" y="0"/>
                  </a:lnTo>
                  <a:cubicBezTo>
                    <a:pt x="1337265" y="0"/>
                    <a:pt x="1371218" y="33954"/>
                    <a:pt x="1371218" y="75838"/>
                  </a:cubicBezTo>
                  <a:lnTo>
                    <a:pt x="1371218" y="1340876"/>
                  </a:lnTo>
                  <a:cubicBezTo>
                    <a:pt x="1371218" y="1360989"/>
                    <a:pt x="1363228" y="1380279"/>
                    <a:pt x="1349006" y="1394501"/>
                  </a:cubicBezTo>
                  <a:cubicBezTo>
                    <a:pt x="1334784" y="1408724"/>
                    <a:pt x="1315494" y="1416714"/>
                    <a:pt x="1295381" y="1416714"/>
                  </a:cubicBezTo>
                  <a:lnTo>
                    <a:pt x="75838" y="1416714"/>
                  </a:lnTo>
                  <a:cubicBezTo>
                    <a:pt x="55724" y="1416714"/>
                    <a:pt x="36435" y="1408724"/>
                    <a:pt x="22212" y="1394501"/>
                  </a:cubicBezTo>
                  <a:cubicBezTo>
                    <a:pt x="7990" y="1380279"/>
                    <a:pt x="0" y="1360989"/>
                    <a:pt x="0" y="1340876"/>
                  </a:cubicBezTo>
                  <a:lnTo>
                    <a:pt x="0" y="75838"/>
                  </a:lnTo>
                  <a:cubicBezTo>
                    <a:pt x="0" y="55724"/>
                    <a:pt x="7990" y="36435"/>
                    <a:pt x="22212" y="22212"/>
                  </a:cubicBezTo>
                  <a:cubicBezTo>
                    <a:pt x="36435" y="7990"/>
                    <a:pt x="55724" y="0"/>
                    <a:pt x="75838" y="0"/>
                  </a:cubicBez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371218" cy="1483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Data Insight:</a:t>
              </a:r>
              <a:r>
                <a:rPr lang="en-US" sz="20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Analysis indicates over 600 customers churned due to superior competitor devices and better offers.</a:t>
              </a:r>
            </a:p>
            <a:p>
              <a:pPr algn="ctr"/>
              <a:r>
                <a:rPr lang="en-US" sz="20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Action:</a:t>
              </a:r>
              <a:r>
                <a:rPr lang="en-US" sz="20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Launch a targeted retention campaign offering free high-performance router upgrades for existing Fiber Optic customers, and review pricing models to maintain market competitiveness.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35845" y="3583392"/>
            <a:ext cx="4598047" cy="1159467"/>
            <a:chOff x="0" y="0"/>
            <a:chExt cx="1211008" cy="3053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4119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52955" y="3175036"/>
            <a:ext cx="5206345" cy="5279526"/>
            <a:chOff x="0" y="0"/>
            <a:chExt cx="1371218" cy="13904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1218" cy="1390493"/>
            </a:xfrm>
            <a:custGeom>
              <a:avLst/>
              <a:gdLst/>
              <a:ahLst/>
              <a:cxnLst/>
              <a:rect l="l" t="t" r="r" b="b"/>
              <a:pathLst>
                <a:path w="1371218" h="1390493">
                  <a:moveTo>
                    <a:pt x="75838" y="0"/>
                  </a:moveTo>
                  <a:lnTo>
                    <a:pt x="1295381" y="0"/>
                  </a:lnTo>
                  <a:cubicBezTo>
                    <a:pt x="1337265" y="0"/>
                    <a:pt x="1371218" y="33954"/>
                    <a:pt x="1371218" y="75838"/>
                  </a:cubicBezTo>
                  <a:lnTo>
                    <a:pt x="1371218" y="1314655"/>
                  </a:lnTo>
                  <a:cubicBezTo>
                    <a:pt x="1371218" y="1334768"/>
                    <a:pt x="1363228" y="1354058"/>
                    <a:pt x="1349006" y="1368280"/>
                  </a:cubicBezTo>
                  <a:cubicBezTo>
                    <a:pt x="1334784" y="1382503"/>
                    <a:pt x="1315494" y="1390493"/>
                    <a:pt x="1295381" y="1390493"/>
                  </a:cubicBezTo>
                  <a:lnTo>
                    <a:pt x="75838" y="1390493"/>
                  </a:lnTo>
                  <a:cubicBezTo>
                    <a:pt x="55724" y="1390493"/>
                    <a:pt x="36435" y="1382503"/>
                    <a:pt x="22212" y="1368280"/>
                  </a:cubicBezTo>
                  <a:cubicBezTo>
                    <a:pt x="7990" y="1354058"/>
                    <a:pt x="0" y="1334768"/>
                    <a:pt x="0" y="1314655"/>
                  </a:cubicBezTo>
                  <a:lnTo>
                    <a:pt x="0" y="75838"/>
                  </a:lnTo>
                  <a:cubicBezTo>
                    <a:pt x="0" y="55724"/>
                    <a:pt x="7990" y="36435"/>
                    <a:pt x="22212" y="22212"/>
                  </a:cubicBezTo>
                  <a:cubicBezTo>
                    <a:pt x="36435" y="7990"/>
                    <a:pt x="55724" y="0"/>
                    <a:pt x="75838" y="0"/>
                  </a:cubicBez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371218" cy="1447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Data Insight:</a:t>
              </a:r>
              <a:r>
                <a:rPr lang="en-US" sz="20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Month-to-Month contracts represent the highest churn vulnerability and the primary driver of revenue leakage. </a:t>
              </a:r>
            </a:p>
            <a:p>
              <a:pPr algn="ctr"/>
              <a:endPara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Action:</a:t>
              </a:r>
              <a:r>
                <a:rPr lang="en-US" sz="20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Deploy automated, time-sensitive incentives (e.g., a 10% loyalty discount or one free month) to encourage Month-to-Month users to transition into stable One-Year or Two-Year agreements.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42321" y="3175036"/>
            <a:ext cx="5206345" cy="5279526"/>
            <a:chOff x="0" y="0"/>
            <a:chExt cx="1371218" cy="13904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71218" cy="1390493"/>
            </a:xfrm>
            <a:custGeom>
              <a:avLst/>
              <a:gdLst/>
              <a:ahLst/>
              <a:cxnLst/>
              <a:rect l="l" t="t" r="r" b="b"/>
              <a:pathLst>
                <a:path w="1371218" h="1390493">
                  <a:moveTo>
                    <a:pt x="75838" y="0"/>
                  </a:moveTo>
                  <a:lnTo>
                    <a:pt x="1295381" y="0"/>
                  </a:lnTo>
                  <a:cubicBezTo>
                    <a:pt x="1337265" y="0"/>
                    <a:pt x="1371218" y="33954"/>
                    <a:pt x="1371218" y="75838"/>
                  </a:cubicBezTo>
                  <a:lnTo>
                    <a:pt x="1371218" y="1314655"/>
                  </a:lnTo>
                  <a:cubicBezTo>
                    <a:pt x="1371218" y="1334768"/>
                    <a:pt x="1363228" y="1354058"/>
                    <a:pt x="1349006" y="1368280"/>
                  </a:cubicBezTo>
                  <a:cubicBezTo>
                    <a:pt x="1334784" y="1382503"/>
                    <a:pt x="1315494" y="1390493"/>
                    <a:pt x="1295381" y="1390493"/>
                  </a:cubicBezTo>
                  <a:lnTo>
                    <a:pt x="75838" y="1390493"/>
                  </a:lnTo>
                  <a:cubicBezTo>
                    <a:pt x="55724" y="1390493"/>
                    <a:pt x="36435" y="1382503"/>
                    <a:pt x="22212" y="1368280"/>
                  </a:cubicBezTo>
                  <a:cubicBezTo>
                    <a:pt x="7990" y="1354058"/>
                    <a:pt x="0" y="1334768"/>
                    <a:pt x="0" y="1314655"/>
                  </a:cubicBezTo>
                  <a:lnTo>
                    <a:pt x="0" y="75838"/>
                  </a:lnTo>
                  <a:cubicBezTo>
                    <a:pt x="0" y="55724"/>
                    <a:pt x="7990" y="36435"/>
                    <a:pt x="22212" y="22212"/>
                  </a:cubicBezTo>
                  <a:cubicBezTo>
                    <a:pt x="36435" y="7990"/>
                    <a:pt x="55724" y="0"/>
                    <a:pt x="75838" y="0"/>
                  </a:cubicBez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371218" cy="1447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Data Insight:</a:t>
              </a:r>
              <a:r>
                <a:rPr lang="en-US" sz="20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SQL queries revealed 220 customer drop-offs directly attributed to poor support personnel attitude. </a:t>
              </a:r>
            </a:p>
            <a:p>
              <a:pPr algn="ctr"/>
              <a:endPara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Action:</a:t>
              </a:r>
              <a:r>
                <a:rPr lang="en-US" sz="20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Implement mandatory customer empathy and technical refresher training for all support agents, and tie a portion of performance incentives directly to Customer Satisfaction (CSAT) scores.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5096361" y="1028700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6842896" y="3583392"/>
            <a:ext cx="4598047" cy="1159467"/>
            <a:chOff x="0" y="0"/>
            <a:chExt cx="1211008" cy="3053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411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985371" y="3757980"/>
            <a:ext cx="4328981" cy="79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Upgrade Customer Support Quality &amp; Training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358266" y="3583392"/>
            <a:ext cx="4598047" cy="1159467"/>
            <a:chOff x="0" y="0"/>
            <a:chExt cx="1211008" cy="3053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411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291335" y="3738095"/>
            <a:ext cx="4729584" cy="797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Stabilize Month-to-Month Contracts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98849" y="1345921"/>
            <a:ext cx="8686140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</a:pPr>
            <a:r>
              <a:rPr lang="en-US" sz="5000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Executiv</a:t>
            </a:r>
            <a:r>
              <a:rPr lang="en-US" sz="5000" u="none" strike="noStrike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e Recommendations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07688" y="1914246"/>
            <a:ext cx="9875611" cy="68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Data-D</a:t>
            </a:r>
            <a:r>
              <a:rPr lang="en-US" sz="4000" u="none" strike="noStrike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riven Actions for Revenue Protection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563EC8-A042-B2C1-386D-E52AA64D7EA4}"/>
              </a:ext>
            </a:extLst>
          </p:cNvPr>
          <p:cNvSpPr txBox="1"/>
          <p:nvPr/>
        </p:nvSpPr>
        <p:spPr>
          <a:xfrm>
            <a:off x="1227504" y="3738095"/>
            <a:ext cx="4778137" cy="88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Revamp Fiber optic Value proposition &amp; Equipment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2998" y="6392352"/>
            <a:ext cx="5454138" cy="975366"/>
            <a:chOff x="-29840" y="-28575"/>
            <a:chExt cx="1436481" cy="2568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6641" cy="199737"/>
            </a:xfrm>
            <a:custGeom>
              <a:avLst/>
              <a:gdLst/>
              <a:ahLst/>
              <a:cxnLst/>
              <a:rect l="l" t="t" r="r" b="b"/>
              <a:pathLst>
                <a:path w="1406641" h="199737">
                  <a:moveTo>
                    <a:pt x="73928" y="0"/>
                  </a:moveTo>
                  <a:lnTo>
                    <a:pt x="1332713" y="0"/>
                  </a:lnTo>
                  <a:cubicBezTo>
                    <a:pt x="1373542" y="0"/>
                    <a:pt x="1406641" y="33099"/>
                    <a:pt x="1406641" y="73928"/>
                  </a:cubicBezTo>
                  <a:lnTo>
                    <a:pt x="1406641" y="125809"/>
                  </a:lnTo>
                  <a:cubicBezTo>
                    <a:pt x="1406641" y="166638"/>
                    <a:pt x="1373542" y="199737"/>
                    <a:pt x="1332713" y="199737"/>
                  </a:cubicBezTo>
                  <a:lnTo>
                    <a:pt x="73928" y="199737"/>
                  </a:lnTo>
                  <a:cubicBezTo>
                    <a:pt x="33099" y="199737"/>
                    <a:pt x="0" y="166638"/>
                    <a:pt x="0" y="125809"/>
                  </a:cubicBezTo>
                  <a:lnTo>
                    <a:pt x="0" y="73928"/>
                  </a:lnTo>
                  <a:cubicBezTo>
                    <a:pt x="0" y="33099"/>
                    <a:pt x="33099" y="0"/>
                    <a:pt x="73928" y="0"/>
                  </a:cubicBezTo>
                  <a:close/>
                </a:path>
              </a:pathLst>
            </a:custGeom>
            <a:solidFill>
              <a:srgbClr val="411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29840" y="-28575"/>
              <a:ext cx="1406641" cy="2568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Lama </a:t>
              </a:r>
              <a:r>
                <a:rPr lang="en-US" sz="2400" b="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Alhaidari</a:t>
              </a:r>
              <a:endParaRPr lang="en-US" sz="2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5096361" y="1028700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8055636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8"/>
                </a:lnTo>
                <a:lnTo>
                  <a:pt x="0" y="1183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3291662"/>
            <a:ext cx="8282942" cy="1292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640"/>
              </a:lnSpc>
              <a:spcBef>
                <a:spcPct val="0"/>
              </a:spcBef>
            </a:pPr>
            <a:r>
              <a:rPr lang="en-US" sz="7600" u="none" strike="noStrike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10400265" y="1919962"/>
            <a:ext cx="5204037" cy="6360489"/>
          </a:xfrm>
          <a:custGeom>
            <a:avLst/>
            <a:gdLst/>
            <a:ahLst/>
            <a:cxnLst/>
            <a:rect l="l" t="t" r="r" b="b"/>
            <a:pathLst>
              <a:path w="5204037" h="6360489">
                <a:moveTo>
                  <a:pt x="0" y="0"/>
                </a:moveTo>
                <a:lnTo>
                  <a:pt x="5204037" y="0"/>
                </a:lnTo>
                <a:lnTo>
                  <a:pt x="5204037" y="6360490"/>
                </a:lnTo>
                <a:lnTo>
                  <a:pt x="0" y="6360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webextension1.xml><?xml version="1.0" encoding="utf-8"?>
<we:webextension xmlns:we="http://schemas.microsoft.com/office/webextensions/webextension/2010/11" id="{6D128954-C51C-4B2B-880F-EC2062678BF7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links/yGvO4U0-5r?ctid=19df06c3-3fcd-4947-809f-064684abf608&amp;pbi_source=linkShare&quot;"/>
    <we:property name="reportName" value="&quot;Telecom_Churn_Executive_Dashboard&quot;"/>
    <we:property name="reportState" value="&quot;CONNECTED&quot;"/>
    <we:property name="embedUrl" value="&quot;/reportEmbed?reportId=df0265bb-10bc-4507-8314-108b9df1a897&amp;config=eyJjbHVzdGVyVXJsIjoiaHR0cHM6Ly9XQUJJLVdFU1QtRVVST1BFLUYtUFJJTUFSWS1yZWRpcmVjdC5hbmFseXNpcy53aW5kb3dzLm5ldCIsImVtYmVkRmVhdHVyZXMiOnsidXNhZ2VNZXRyaWNzVk5leHQiOnRydWV9fQ%3D%3D&amp;disableSensitivityBanner=true&amp;storytellingChangeViewModeShortcutKeys=true&quot;"/>
    <we:property name="pageDisplayName" value="&quot;Page 1&quot;"/>
    <we:property name="datasetId" value="&quot;ab1a3f36-e940-4513-899a-dcbf8c5a0416&quot;"/>
    <we:property name="backgroundColor" value="&quot;#FFFFFF&quot;"/>
    <we:property name="bookmark" value="&quot;H4sIAAAAAAAAA+1YbU/bMBD+K1E+V1Oc9/CtdEyaBBMCtC8TQuf4UgKpHTlO1w71v+/sBA1YxyQGrHvplzZ3F/ue5x7fJb3xRd21Daw/wAL9PX9fqesF6GuP+RNfDrYUGE9DwTKIMMhYylgRk1e1play8/dufAN6juZj3fXQ2IXI+Ol84kPTHMPcXlXQdDjxW9SdktDUX3AIJpfRPW4mPq7aRmmwS54aMGiXXVI4XVMK7E1EO0Jp6iWeYmkGaxnyGHmY8gqqHHmV5FFOYd0Q4DLbGmKXdtvPlDRQS9rG2rAQKfAgS0TCihR5HgahtVd1Y8YQvj5YtZrQEeZ1a8mZiiXIEoXvIGjshoxv/COErtcOx8E9x6nqdYknWDmXNLVZWyyXvZYXZYMgLzh06G+IlGOtiDLnn0rZO+KEd4JLlD16h6rrXNil+jzTSKQJfy/YnJOlq+W8GTn+BvdsSLkELUYXVZFfEV0WHN2mtEC9v3b43tb6luhw8gDCq2EjMBTKwhLjJCrSMM+DsIgxDrKfFmZGfMyVrksH835tZqrpF/K50p9Zv3cIHJst5Zi8ulTOlIHG+57Up2hFKNmb2SVosyNaeQTc5vy2RVD81Z0mMEphyPUla09qJXecZLwso7gQYSliwQHCZIfk+l5SFhKN50q8C4J9zt7W9B3BQzFwtkvKfazLvb5wH6pgkK7AIkvjKoUs5lEQhTnL450ZgcPRdyeOOJxRodXCJvU3jMAfYxtGYBQVCUDAgjIMg4BhEEHw9MI8r5TOSMsavVp6R/Q8dbmtIJM/cSxP53ONczDj5cFL5joW3LPPvv3A4LtejuJLnqDwzkB5jWJKt/xSE9wlEn5Hn9wi7nHK8ywTjGVplCR5xYI4DsQOTXn7aqOJrP8D/h8d8HcEMApWRLwQPIpYwLIqi1IeR3bFR+k2uDJcre4z7D53LT6d2rnjUfWma6HEY5DoQLVDRjUOr9irFqRAMf7W9vuwpnoOW3+Epre7ur8LfLeNzX3zFQWph/KmEAAA&quot;"/>
    <we:property name="initialStateBookmark" value="&quot;H4sIAAAAAAAAA+1Y207bQBD9FWufo8rX2OEtpFSquBQB4qVCaNY7dgxm11qvaVKUf+/s2qhAU5Ao0PSSF8cz4505Z453bN8wUbVNDcsDuEK2xbaVurwCfekFbMTkYPv0aXd/erR7fjDd3yGzakylZMu2bpgBXaI5rdoOarsCGT+fjRjU9SGU9qyAusURa1C3SkJdfcU+mFxGd7gaMVw0tdJglzw2YNAue03hdE65g3cRZYTcVNd4jLnprXnIY+ThmBdQZMiLJIsyCmv7AFfZ2hC7tEs/U9JAJSmNteFEjIH7aSKSYDJGnoV+aO1FVZshhC93Fo0mdIR52VhWpuIaZI6COQga277iG7aP0Hba4di55zhWnc7xCAvnkqYyS4tl3ml5ntcI8pxDi2xFpBxqRZQ5/1TKzhEnvCO8Rtmht6fa1oXN1ZeZRiJNsC1/dUaWtpJlPXD8He5JX3IOWgwu6iK/ILosOLpMaYF6e+nwva/0LdHh6AGEN8NGYCg0CHOMk2gyDrPMDycxxn76ZGNmxEepdJU7mPd7M1N1dyVfqvyZ9Xt7wLFe047Rm0vlRBmovR9JfY5WhJKdmc1Bmw3RyiPgVme3WwTFX9zZBAYp9LW+Zu9JreSOk5TneRRPRJiLWHCAMNkguX6UVIVE47kWb4JgX3Jvq7uW4KHoOdsk5T62y729cB+qoJeuwEk6josxpDGP/CjMgizemBHY3/rujiMOZ9RodWWL+htG4M+x9SMwiiYJgB/4eRj6foB+BP7zG/OyUjohLWv0Kunt0/PUfF1DRn/iWJ6WpcYSzHC685q1Dg337LNv1zP4oZOD+JJnKLw1kF+imNIlv7QJbhIJv2OfXCPuYcrzNBVBkI6jJMmKwI9jX2zQlLevNprI+j/g/9EBf0cAg2BFxCeCR1HgB2mRRmMeR3bFR+k2uDBcLe4z7H53LYzu2tLxqDrTNpDjIUh0oJq+ogr7V+xFA1KgGP5re9yrqJ996lOoO5vVfS5gLglVU/Ean7jAfkRgriyLdfUNi4FDtc8QAAA=&quot;"/>
    <we:property name="isFiltersActionButtonVisible" value="true"/>
    <we:property name="isVisualContainerHeaderHidden" value="false"/>
    <we:property name="reportEmbeddedTime" value="&quot;2026-07-20T21:03:46.366Z&quot;"/>
    <we:property name="creatorTenantId" value="&quot;19df06c3-3fcd-4947-809f-064684abf608&quot;"/>
    <we:property name="creatorUserId" value="&quot;1003200163C6180A&quot;"/>
    <we:property name="creatorSessionId" value="&quot;74e9fcf4-d0ab-41a3-a790-db604f7eee96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407</Words>
  <Application>Microsoft Office PowerPoint</Application>
  <PresentationFormat>Custom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Tex Gyre Termes Bold</vt:lpstr>
      <vt:lpstr>Calibri</vt:lpstr>
      <vt:lpstr>Arial</vt:lpstr>
      <vt:lpstr>Tex Gyre Termes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Modern Data Analyst Presentation</dc:title>
  <cp:lastModifiedBy>لمى الحيدري ID 443200831</cp:lastModifiedBy>
  <cp:revision>5</cp:revision>
  <dcterms:created xsi:type="dcterms:W3CDTF">2006-08-16T00:00:00Z</dcterms:created>
  <dcterms:modified xsi:type="dcterms:W3CDTF">2026-07-20T21:04:04Z</dcterms:modified>
  <dc:identifier>DAHP4UkE7cc</dc:identifier>
</cp:coreProperties>
</file>