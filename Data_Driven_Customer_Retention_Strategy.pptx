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webextensions/webextension1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6858000" cy="9144000"/>
  <p:embeddedFontLst>
    <p:embeddedFont>
      <p:font typeface="Poppins" panose="00000500000000000000" pitchFamily="2" charset="0"/>
      <p:regular r:id="rId8"/>
    </p:embeddedFont>
    <p:embeddedFont>
      <p:font typeface="Poppins Bold" panose="00000800000000000000" charset="0"/>
      <p:regular r:id="rId9"/>
    </p:embeddedFont>
    <p:embeddedFont>
      <p:font typeface="Tex Gyre Termes" panose="020B0604020202020204" charset="0"/>
      <p:regular r:id="rId10"/>
    </p:embeddedFont>
    <p:embeddedFont>
      <p:font typeface="Tex Gyre Termes Bold" panose="020B0604020202020204" charset="0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70" d="100"/>
          <a:sy n="70" d="100"/>
        </p:scale>
        <p:origin x="-3507" y="-52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4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5519365"/>
            <a:ext cx="6782896" cy="983696"/>
            <a:chOff x="0" y="0"/>
            <a:chExt cx="1786442" cy="25908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86442" cy="259081"/>
            </a:xfrm>
            <a:custGeom>
              <a:avLst/>
              <a:gdLst/>
              <a:ahLst/>
              <a:cxnLst/>
              <a:rect l="l" t="t" r="r" b="b"/>
              <a:pathLst>
                <a:path w="1786442" h="259081">
                  <a:moveTo>
                    <a:pt x="58211" y="0"/>
                  </a:moveTo>
                  <a:lnTo>
                    <a:pt x="1728231" y="0"/>
                  </a:lnTo>
                  <a:cubicBezTo>
                    <a:pt x="1760380" y="0"/>
                    <a:pt x="1786442" y="26062"/>
                    <a:pt x="1786442" y="58211"/>
                  </a:cubicBezTo>
                  <a:lnTo>
                    <a:pt x="1786442" y="200870"/>
                  </a:lnTo>
                  <a:cubicBezTo>
                    <a:pt x="1786442" y="233019"/>
                    <a:pt x="1760380" y="259081"/>
                    <a:pt x="1728231" y="259081"/>
                  </a:cubicBezTo>
                  <a:lnTo>
                    <a:pt x="58211" y="259081"/>
                  </a:lnTo>
                  <a:cubicBezTo>
                    <a:pt x="26062" y="259081"/>
                    <a:pt x="0" y="233019"/>
                    <a:pt x="0" y="200870"/>
                  </a:cubicBezTo>
                  <a:lnTo>
                    <a:pt x="0" y="58211"/>
                  </a:lnTo>
                  <a:cubicBezTo>
                    <a:pt x="0" y="26062"/>
                    <a:pt x="26062" y="0"/>
                    <a:pt x="58211" y="0"/>
                  </a:cubicBezTo>
                  <a:close/>
                </a:path>
              </a:pathLst>
            </a:custGeom>
            <a:solidFill>
              <a:srgbClr val="4119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1786442" cy="3162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5096361" y="1028700"/>
            <a:ext cx="2162939" cy="1183717"/>
          </a:xfrm>
          <a:custGeom>
            <a:avLst/>
            <a:gdLst/>
            <a:ahLst/>
            <a:cxnLst/>
            <a:rect l="l" t="t" r="r" b="b"/>
            <a:pathLst>
              <a:path w="2162939" h="1183717">
                <a:moveTo>
                  <a:pt x="0" y="0"/>
                </a:moveTo>
                <a:lnTo>
                  <a:pt x="2162939" y="0"/>
                </a:lnTo>
                <a:lnTo>
                  <a:pt x="2162939" y="1183717"/>
                </a:lnTo>
                <a:lnTo>
                  <a:pt x="0" y="118371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1028700" y="3092112"/>
            <a:ext cx="9657567" cy="1730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99"/>
              </a:lnSpc>
              <a:spcBef>
                <a:spcPct val="0"/>
              </a:spcBef>
            </a:pPr>
            <a:r>
              <a:rPr lang="en-US" sz="4999" b="1">
                <a:solidFill>
                  <a:srgbClr val="FFFFFF"/>
                </a:solidFill>
                <a:latin typeface="Tex Gyre Termes Bold"/>
                <a:ea typeface="Tex Gyre Termes Bold"/>
                <a:cs typeface="Tex Gyre Termes Bold"/>
                <a:sym typeface="Tex Gyre Termes Bold"/>
              </a:rPr>
              <a:t>Telecom Churn Analysis &amp; Revenue Protection Report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09828" y="5615332"/>
            <a:ext cx="6620639" cy="677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84"/>
              </a:lnSpc>
            </a:pPr>
            <a:r>
              <a:rPr lang="en-US" sz="370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Turning Data Into Insights</a:t>
            </a:r>
          </a:p>
        </p:txBody>
      </p:sp>
      <p:sp>
        <p:nvSpPr>
          <p:cNvPr id="8" name="Freeform 8"/>
          <p:cNvSpPr/>
          <p:nvPr/>
        </p:nvSpPr>
        <p:spPr>
          <a:xfrm>
            <a:off x="1028700" y="8055636"/>
            <a:ext cx="2162939" cy="1183717"/>
          </a:xfrm>
          <a:custGeom>
            <a:avLst/>
            <a:gdLst/>
            <a:ahLst/>
            <a:cxnLst/>
            <a:rect l="l" t="t" r="r" b="b"/>
            <a:pathLst>
              <a:path w="2162939" h="1183717">
                <a:moveTo>
                  <a:pt x="0" y="0"/>
                </a:moveTo>
                <a:lnTo>
                  <a:pt x="2162939" y="0"/>
                </a:lnTo>
                <a:lnTo>
                  <a:pt x="2162939" y="1183718"/>
                </a:lnTo>
                <a:lnTo>
                  <a:pt x="0" y="118371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10686267" y="2603390"/>
            <a:ext cx="5300548" cy="5319893"/>
          </a:xfrm>
          <a:custGeom>
            <a:avLst/>
            <a:gdLst/>
            <a:ahLst/>
            <a:cxnLst/>
            <a:rect l="l" t="t" r="r" b="b"/>
            <a:pathLst>
              <a:path w="5300548" h="5319893">
                <a:moveTo>
                  <a:pt x="0" y="0"/>
                </a:moveTo>
                <a:lnTo>
                  <a:pt x="5300548" y="0"/>
                </a:lnTo>
                <a:lnTo>
                  <a:pt x="5300548" y="5319893"/>
                </a:lnTo>
                <a:lnTo>
                  <a:pt x="0" y="531989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4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2267404"/>
            <a:ext cx="13714869" cy="688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600"/>
              </a:lnSpc>
              <a:spcBef>
                <a:spcPct val="0"/>
              </a:spcBef>
            </a:pPr>
            <a:r>
              <a:rPr lang="en-US" sz="4000">
                <a:solidFill>
                  <a:srgbClr val="FFFFFF"/>
                </a:solidFill>
                <a:latin typeface="Tex Gyre Termes"/>
                <a:ea typeface="Tex Gyre Termes"/>
                <a:cs typeface="Tex Gyre Termes"/>
                <a:sym typeface="Tex Gyre Termes"/>
              </a:rPr>
              <a:t>Execu</a:t>
            </a:r>
            <a:r>
              <a:rPr lang="en-US" sz="4000" u="none" strike="noStrike">
                <a:solidFill>
                  <a:srgbClr val="FFFFFF"/>
                </a:solidFill>
                <a:latin typeface="Tex Gyre Termes"/>
                <a:ea typeface="Tex Gyre Termes"/>
                <a:cs typeface="Tex Gyre Termes"/>
                <a:sym typeface="Tex Gyre Termes"/>
              </a:rPr>
              <a:t>tive Summary: The Customer Retention Crisis</a:t>
            </a:r>
          </a:p>
        </p:txBody>
      </p:sp>
      <p:sp>
        <p:nvSpPr>
          <p:cNvPr id="3" name="Freeform 3"/>
          <p:cNvSpPr/>
          <p:nvPr/>
        </p:nvSpPr>
        <p:spPr>
          <a:xfrm>
            <a:off x="10999877" y="2234956"/>
            <a:ext cx="5097884" cy="5817087"/>
          </a:xfrm>
          <a:custGeom>
            <a:avLst/>
            <a:gdLst/>
            <a:ahLst/>
            <a:cxnLst/>
            <a:rect l="l" t="t" r="r" b="b"/>
            <a:pathLst>
              <a:path w="5097884" h="5817087">
                <a:moveTo>
                  <a:pt x="0" y="0"/>
                </a:moveTo>
                <a:lnTo>
                  <a:pt x="5097884" y="0"/>
                </a:lnTo>
                <a:lnTo>
                  <a:pt x="5097884" y="5817088"/>
                </a:lnTo>
                <a:lnTo>
                  <a:pt x="0" y="58170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1028700" y="1499055"/>
            <a:ext cx="13714869" cy="8540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</a:pPr>
            <a:r>
              <a:rPr lang="en-US" sz="5000" b="1" u="none" strike="noStrike">
                <a:solidFill>
                  <a:srgbClr val="FFFFFF"/>
                </a:solidFill>
                <a:latin typeface="Tex Gyre Termes Bold"/>
                <a:ea typeface="Tex Gyre Termes Bold"/>
                <a:cs typeface="Tex Gyre Termes Bold"/>
                <a:sym typeface="Tex Gyre Termes Bold"/>
              </a:rPr>
              <a:t>The Business Problem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8700" y="3596507"/>
            <a:ext cx="8366795" cy="4893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6571" lvl="1" indent="-248285" algn="l">
              <a:lnSpc>
                <a:spcPts val="3220"/>
              </a:lnSpc>
              <a:buFont typeface="Arial"/>
              <a:buChar char="•"/>
            </a:pPr>
            <a:r>
              <a:rPr lang="en-US" sz="20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The Challenge: </a:t>
            </a:r>
            <a:r>
              <a:rPr lang="en-US" sz="200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The company is facing a critical customer defection (churn) issue, resulting in an estimated 1.6</a:t>
            </a:r>
            <a:r>
              <a:rPr lang="ar-SA" sz="200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4</a:t>
            </a:r>
            <a:r>
              <a:rPr lang="en-US" sz="200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 $ in annualized revenue loss.</a:t>
            </a:r>
          </a:p>
          <a:p>
            <a:pPr algn="l">
              <a:lnSpc>
                <a:spcPts val="3220"/>
              </a:lnSpc>
            </a:pPr>
            <a:endParaRPr lang="en-US" sz="2000" dirty="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96571" lvl="1" indent="-248285" algn="l">
              <a:lnSpc>
                <a:spcPts val="3220"/>
              </a:lnSpc>
              <a:buFont typeface="Arial"/>
              <a:buChar char="•"/>
            </a:pPr>
            <a:r>
              <a:rPr lang="en-US" sz="20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The Objective: </a:t>
            </a:r>
            <a:r>
              <a:rPr lang="en-US" sz="200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To systematically analyze customer behavior, identify the primary operational and product drivers of churn, and deploy data-driven strategies to protect revenue and market share.</a:t>
            </a:r>
          </a:p>
          <a:p>
            <a:pPr algn="l">
              <a:lnSpc>
                <a:spcPts val="3220"/>
              </a:lnSpc>
            </a:pPr>
            <a:endParaRPr lang="en-US" sz="2000" dirty="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96571" lvl="1" indent="-248285" algn="l">
              <a:lnSpc>
                <a:spcPts val="3220"/>
              </a:lnSpc>
              <a:buFont typeface="Arial"/>
              <a:buChar char="•"/>
            </a:pPr>
            <a:r>
              <a:rPr lang="en-US" sz="20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Strategic Focus: </a:t>
            </a:r>
            <a:r>
              <a:rPr lang="en-US" sz="200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Moving from descriptive metrics to actionable, high-impact business retention programs.</a:t>
            </a:r>
          </a:p>
          <a:p>
            <a:pPr algn="l">
              <a:lnSpc>
                <a:spcPts val="3220"/>
              </a:lnSpc>
            </a:pPr>
            <a:endParaRPr lang="en-US" sz="2000" dirty="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4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2267404"/>
            <a:ext cx="13714869" cy="688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600"/>
              </a:lnSpc>
              <a:spcBef>
                <a:spcPct val="0"/>
              </a:spcBef>
            </a:pPr>
            <a:r>
              <a:rPr lang="en-US" sz="4000">
                <a:solidFill>
                  <a:srgbClr val="FFFFFF"/>
                </a:solidFill>
                <a:latin typeface="Tex Gyre Termes"/>
                <a:ea typeface="Tex Gyre Termes"/>
                <a:cs typeface="Tex Gyre Termes"/>
                <a:sym typeface="Tex Gyre Termes"/>
              </a:rPr>
              <a:t>Teleco</a:t>
            </a:r>
            <a:r>
              <a:rPr lang="en-US" sz="4000" u="none" strike="noStrike">
                <a:solidFill>
                  <a:srgbClr val="FFFFFF"/>
                </a:solidFill>
                <a:latin typeface="Tex Gyre Termes"/>
                <a:ea typeface="Tex Gyre Termes"/>
                <a:cs typeface="Tex Gyre Termes"/>
                <a:sym typeface="Tex Gyre Termes"/>
              </a:rPr>
              <a:t>m Churn Analysis &amp; Financial Exposure Dashboard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1499055"/>
            <a:ext cx="15655260" cy="851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972"/>
              </a:lnSpc>
              <a:spcBef>
                <a:spcPct val="0"/>
              </a:spcBef>
            </a:pPr>
            <a:r>
              <a:rPr lang="en-US" sz="4980" b="1" u="none" strike="noStrike">
                <a:solidFill>
                  <a:srgbClr val="FFFFFF"/>
                </a:solidFill>
                <a:latin typeface="Tex Gyre Termes Bold"/>
                <a:ea typeface="Tex Gyre Termes Bold"/>
                <a:cs typeface="Tex Gyre Termes Bold"/>
                <a:sym typeface="Tex Gyre Termes Bold"/>
              </a:rPr>
              <a:t>The Interactive Executive Dashboard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3944600" y="2796960"/>
            <a:ext cx="3313645" cy="6151177"/>
            <a:chOff x="0" y="-66675"/>
            <a:chExt cx="872730" cy="168168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72730" cy="1615008"/>
            </a:xfrm>
            <a:custGeom>
              <a:avLst/>
              <a:gdLst/>
              <a:ahLst/>
              <a:cxnLst/>
              <a:rect l="l" t="t" r="r" b="b"/>
              <a:pathLst>
                <a:path w="872730" h="1615008">
                  <a:moveTo>
                    <a:pt x="119155" y="0"/>
                  </a:moveTo>
                  <a:lnTo>
                    <a:pt x="753574" y="0"/>
                  </a:lnTo>
                  <a:cubicBezTo>
                    <a:pt x="785176" y="0"/>
                    <a:pt x="815484" y="12554"/>
                    <a:pt x="837830" y="34900"/>
                  </a:cubicBezTo>
                  <a:cubicBezTo>
                    <a:pt x="860176" y="57246"/>
                    <a:pt x="872730" y="87553"/>
                    <a:pt x="872730" y="119155"/>
                  </a:cubicBezTo>
                  <a:lnTo>
                    <a:pt x="872730" y="1495853"/>
                  </a:lnTo>
                  <a:cubicBezTo>
                    <a:pt x="872730" y="1527455"/>
                    <a:pt x="860176" y="1557762"/>
                    <a:pt x="837830" y="1580108"/>
                  </a:cubicBezTo>
                  <a:cubicBezTo>
                    <a:pt x="815484" y="1602454"/>
                    <a:pt x="785176" y="1615008"/>
                    <a:pt x="753574" y="1615008"/>
                  </a:cubicBezTo>
                  <a:lnTo>
                    <a:pt x="119155" y="1615008"/>
                  </a:lnTo>
                  <a:cubicBezTo>
                    <a:pt x="87553" y="1615008"/>
                    <a:pt x="57246" y="1602454"/>
                    <a:pt x="34900" y="1580108"/>
                  </a:cubicBezTo>
                  <a:cubicBezTo>
                    <a:pt x="12554" y="1557762"/>
                    <a:pt x="0" y="1527455"/>
                    <a:pt x="0" y="1495853"/>
                  </a:cubicBezTo>
                  <a:lnTo>
                    <a:pt x="0" y="119155"/>
                  </a:lnTo>
                  <a:cubicBezTo>
                    <a:pt x="0" y="87553"/>
                    <a:pt x="12554" y="57246"/>
                    <a:pt x="34900" y="34900"/>
                  </a:cubicBezTo>
                  <a:cubicBezTo>
                    <a:pt x="57246" y="12554"/>
                    <a:pt x="87553" y="0"/>
                    <a:pt x="119155" y="0"/>
                  </a:cubicBezTo>
                  <a:close/>
                </a:path>
              </a:pathLst>
            </a:custGeom>
            <a:ln w="66675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66675"/>
              <a:ext cx="872730" cy="164154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>
                <a:lnSpc>
                  <a:spcPts val="3499"/>
                </a:lnSpc>
              </a:pPr>
              <a:endParaRPr dirty="0"/>
            </a:p>
            <a:p>
              <a:pPr>
                <a:lnSpc>
                  <a:spcPts val="3499"/>
                </a:lnSpc>
              </a:pPr>
              <a:endParaRPr dirty="0"/>
            </a:p>
            <a:p>
              <a:pPr marL="388620" lvl="1" indent="-194310">
                <a:lnSpc>
                  <a:spcPts val="2520"/>
                </a:lnSpc>
                <a:buFont typeface="Arial"/>
                <a:buChar char="•"/>
              </a:pPr>
              <a:endParaRPr lang="en-US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388620" lvl="1" indent="-194310">
                <a:lnSpc>
                  <a:spcPts val="2520"/>
                </a:lnSpc>
                <a:buFont typeface="Arial"/>
                <a:buChar char="•"/>
              </a:pPr>
              <a:endParaRPr lang="en-US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388620" lvl="1" indent="-194310">
                <a:lnSpc>
                  <a:spcPts val="2520"/>
                </a:lnSpc>
                <a:buFont typeface="Arial"/>
                <a:buChar char="•"/>
              </a:pPr>
              <a:endParaRPr lang="en-US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388620" lvl="1" indent="-194310">
                <a:lnSpc>
                  <a:spcPts val="2520"/>
                </a:lnSpc>
                <a:buFont typeface="Arial"/>
                <a:buChar char="•"/>
              </a:pPr>
              <a:r>
                <a:rPr lang="en-US" dirty="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Financial Impact KPI: Highlighting the 1.6</a:t>
              </a:r>
              <a:r>
                <a:rPr lang="ar-SA" dirty="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4</a:t>
              </a:r>
              <a:r>
                <a:rPr lang="en-US" dirty="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M $ total exposure.</a:t>
              </a:r>
            </a:p>
            <a:p>
              <a:pPr>
                <a:lnSpc>
                  <a:spcPts val="2520"/>
                </a:lnSpc>
              </a:pPr>
              <a:endParaRPr lang="en-US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388620" lvl="1" indent="-194310">
                <a:lnSpc>
                  <a:spcPts val="2520"/>
                </a:lnSpc>
                <a:buFont typeface="Arial"/>
                <a:buChar char="•"/>
              </a:pPr>
              <a:r>
                <a:rPr lang="en-US" dirty="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Risk Segmentation: Clear breakdown of contracts and service types.</a:t>
              </a:r>
            </a:p>
            <a:p>
              <a:pPr marL="194310" lvl="1">
                <a:lnSpc>
                  <a:spcPts val="2520"/>
                </a:lnSpc>
              </a:pPr>
              <a:endParaRPr lang="en-US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388620" lvl="1" indent="-194310">
                <a:lnSpc>
                  <a:spcPts val="2520"/>
                </a:lnSpc>
                <a:buFont typeface="Arial"/>
                <a:buChar char="•"/>
              </a:pPr>
              <a:r>
                <a:rPr lang="en-US" dirty="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Tenure Danger Zone:</a:t>
              </a:r>
            </a:p>
            <a:p>
              <a:pPr marL="194310" lvl="1">
                <a:lnSpc>
                  <a:spcPts val="2520"/>
                </a:lnSpc>
              </a:pPr>
              <a:r>
                <a:rPr lang="en-US" dirty="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Identifying high churn risk during the first Year</a:t>
              </a:r>
            </a:p>
            <a:p>
              <a:pPr>
                <a:lnSpc>
                  <a:spcPts val="2520"/>
                </a:lnSpc>
              </a:pPr>
              <a:endParaRPr lang="en-US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388620" lvl="1" indent="-194310">
                <a:lnSpc>
                  <a:spcPts val="2520"/>
                </a:lnSpc>
                <a:buFont typeface="Arial"/>
                <a:buChar char="•"/>
              </a:pPr>
              <a:endParaRPr lang="en-US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4144373" y="3238107"/>
            <a:ext cx="2914098" cy="1050440"/>
            <a:chOff x="0" y="0"/>
            <a:chExt cx="767499" cy="27665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67499" cy="276659"/>
            </a:xfrm>
            <a:custGeom>
              <a:avLst/>
              <a:gdLst/>
              <a:ahLst/>
              <a:cxnLst/>
              <a:rect l="l" t="t" r="r" b="b"/>
              <a:pathLst>
                <a:path w="767499" h="276659">
                  <a:moveTo>
                    <a:pt x="82358" y="0"/>
                  </a:moveTo>
                  <a:lnTo>
                    <a:pt x="685141" y="0"/>
                  </a:lnTo>
                  <a:cubicBezTo>
                    <a:pt x="730626" y="0"/>
                    <a:pt x="767499" y="36873"/>
                    <a:pt x="767499" y="82358"/>
                  </a:cubicBezTo>
                  <a:lnTo>
                    <a:pt x="767499" y="194301"/>
                  </a:lnTo>
                  <a:cubicBezTo>
                    <a:pt x="767499" y="216144"/>
                    <a:pt x="758822" y="237092"/>
                    <a:pt x="743377" y="252537"/>
                  </a:cubicBezTo>
                  <a:cubicBezTo>
                    <a:pt x="727932" y="267982"/>
                    <a:pt x="706984" y="276659"/>
                    <a:pt x="685141" y="276659"/>
                  </a:cubicBezTo>
                  <a:lnTo>
                    <a:pt x="82358" y="276659"/>
                  </a:lnTo>
                  <a:cubicBezTo>
                    <a:pt x="36873" y="276659"/>
                    <a:pt x="0" y="239786"/>
                    <a:pt x="0" y="194301"/>
                  </a:cubicBezTo>
                  <a:lnTo>
                    <a:pt x="0" y="82358"/>
                  </a:lnTo>
                  <a:cubicBezTo>
                    <a:pt x="0" y="36873"/>
                    <a:pt x="36873" y="0"/>
                    <a:pt x="82358" y="0"/>
                  </a:cubicBezTo>
                  <a:close/>
                </a:path>
              </a:pathLst>
            </a:custGeom>
            <a:solidFill>
              <a:srgbClr val="4119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66675"/>
              <a:ext cx="767499" cy="34333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3715347" y="3553593"/>
            <a:ext cx="3772150" cy="342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60"/>
              </a:lnSpc>
              <a:spcBef>
                <a:spcPct val="0"/>
              </a:spcBef>
            </a:pPr>
            <a:r>
              <a:rPr lang="en-US" sz="20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Key Visual Elements: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13" name="Add-in 12" title="Microsoft Power BI">
                <a:extLst>
                  <a:ext uri="{FF2B5EF4-FFF2-40B4-BE49-F238E27FC236}">
                    <a16:creationId xmlns:a16="http://schemas.microsoft.com/office/drawing/2014/main" id="{E6807D20-7BC9-E736-942B-2DE666D1F8D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20039035"/>
                  </p:ext>
                </p:extLst>
              </p:nvPr>
            </p:nvGraphicFramePr>
            <p:xfrm>
              <a:off x="1371600" y="3233137"/>
              <a:ext cx="11582399" cy="5715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13" name="Add-in 12" title="Microsoft Power BI">
                <a:extLst>
                  <a:ext uri="{FF2B5EF4-FFF2-40B4-BE49-F238E27FC236}">
                    <a16:creationId xmlns:a16="http://schemas.microsoft.com/office/drawing/2014/main" id="{E6807D20-7BC9-E736-942B-2DE666D1F8D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71600" y="3233137"/>
                <a:ext cx="11582399" cy="5715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4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3484141"/>
            <a:ext cx="8366795" cy="5304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6571" lvl="1" indent="-248285" algn="l">
              <a:lnSpc>
                <a:spcPts val="3220"/>
              </a:lnSpc>
              <a:buFont typeface="Arial"/>
              <a:buChar char="•"/>
            </a:pPr>
            <a:r>
              <a:rPr lang="en-US" sz="20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Contractual Vulnerability: </a:t>
            </a:r>
            <a:r>
              <a:rPr lang="en-US" sz="200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Month-to-Month contracts represent the most unstable customer segment and act as the primary catalyst for revenue leakage.</a:t>
            </a:r>
          </a:p>
          <a:p>
            <a:pPr algn="l">
              <a:lnSpc>
                <a:spcPts val="3220"/>
              </a:lnSpc>
            </a:pPr>
            <a:endParaRPr lang="en-US" sz="2000" dirty="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96571" lvl="1" indent="-248285" algn="l">
              <a:lnSpc>
                <a:spcPts val="3220"/>
              </a:lnSpc>
              <a:buFont typeface="Arial"/>
              <a:buChar char="•"/>
            </a:pPr>
            <a:r>
              <a:rPr lang="en-US" sz="20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Product Performance Deficit: </a:t>
            </a:r>
            <a:r>
              <a:rPr lang="en-US" sz="200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Fiber Optic services exhibit an unexpectedly high and disproportionate churn rate, despite being a premium, high-revenue product line.</a:t>
            </a:r>
          </a:p>
          <a:p>
            <a:pPr algn="l">
              <a:lnSpc>
                <a:spcPts val="3220"/>
              </a:lnSpc>
            </a:pPr>
            <a:endParaRPr lang="en-US" sz="2000" dirty="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96571" lvl="1" indent="-248285" algn="l">
              <a:lnSpc>
                <a:spcPts val="3220"/>
              </a:lnSpc>
              <a:buFont typeface="Arial"/>
              <a:buChar char="•"/>
            </a:pPr>
            <a:r>
              <a:rPr lang="en-US" sz="20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Tenure Risk Horizon: </a:t>
            </a:r>
            <a:r>
              <a:rPr lang="en-US" sz="200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Time-series analysis confirms that customer loss is heavily concentrated in the early lifecycle phase, specifically within the first 0 to 12 months of onboarding.</a:t>
            </a:r>
          </a:p>
          <a:p>
            <a:pPr algn="l">
              <a:lnSpc>
                <a:spcPts val="3220"/>
              </a:lnSpc>
            </a:pPr>
            <a:endParaRPr lang="en-US" sz="2000" dirty="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028700" y="1499055"/>
            <a:ext cx="13714869" cy="8540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</a:pPr>
            <a:r>
              <a:rPr lang="en-US" sz="5000" b="1">
                <a:solidFill>
                  <a:srgbClr val="FFFFFF"/>
                </a:solidFill>
                <a:latin typeface="Tex Gyre Termes Bold"/>
                <a:ea typeface="Tex Gyre Termes Bold"/>
                <a:cs typeface="Tex Gyre Termes Bold"/>
                <a:sym typeface="Tex Gyre Termes Bold"/>
              </a:rPr>
              <a:t>Strat</a:t>
            </a:r>
            <a:r>
              <a:rPr lang="en-US" sz="5000" b="1" u="none" strike="noStrike">
                <a:solidFill>
                  <a:srgbClr val="FFFFFF"/>
                </a:solidFill>
                <a:latin typeface="Tex Gyre Termes Bold"/>
                <a:ea typeface="Tex Gyre Termes Bold"/>
                <a:cs typeface="Tex Gyre Termes Bold"/>
                <a:sym typeface="Tex Gyre Termes Bold"/>
              </a:rPr>
              <a:t>egic Insights &amp; Key Churn Drivers</a:t>
            </a:r>
          </a:p>
        </p:txBody>
      </p:sp>
      <p:sp>
        <p:nvSpPr>
          <p:cNvPr id="4" name="Freeform 4"/>
          <p:cNvSpPr/>
          <p:nvPr/>
        </p:nvSpPr>
        <p:spPr>
          <a:xfrm>
            <a:off x="11364877" y="2123615"/>
            <a:ext cx="4597855" cy="5800047"/>
          </a:xfrm>
          <a:custGeom>
            <a:avLst/>
            <a:gdLst/>
            <a:ahLst/>
            <a:cxnLst/>
            <a:rect l="l" t="t" r="r" b="b"/>
            <a:pathLst>
              <a:path w="4597855" h="5800047">
                <a:moveTo>
                  <a:pt x="0" y="0"/>
                </a:moveTo>
                <a:lnTo>
                  <a:pt x="4597856" y="0"/>
                </a:lnTo>
                <a:lnTo>
                  <a:pt x="4597856" y="5800047"/>
                </a:lnTo>
                <a:lnTo>
                  <a:pt x="0" y="580004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1028700" y="2267404"/>
            <a:ext cx="13714869" cy="688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600"/>
              </a:lnSpc>
              <a:spcBef>
                <a:spcPct val="0"/>
              </a:spcBef>
            </a:pPr>
            <a:r>
              <a:rPr lang="en-US" sz="4000">
                <a:solidFill>
                  <a:srgbClr val="FFFFFF"/>
                </a:solidFill>
                <a:latin typeface="Tex Gyre Termes"/>
                <a:ea typeface="Tex Gyre Termes"/>
                <a:cs typeface="Tex Gyre Termes"/>
                <a:sym typeface="Tex Gyre Termes"/>
              </a:rPr>
              <a:t>Data</a:t>
            </a:r>
            <a:r>
              <a:rPr lang="en-US" sz="4000" u="none" strike="noStrike">
                <a:solidFill>
                  <a:srgbClr val="FFFFFF"/>
                </a:solidFill>
                <a:latin typeface="Tex Gyre Termes"/>
                <a:ea typeface="Tex Gyre Termes"/>
                <a:cs typeface="Tex Gyre Termes"/>
                <a:sym typeface="Tex Gyre Termes"/>
              </a:rPr>
              <a:t> Storytelling: Pinpointing the Root Causes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4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3175036"/>
            <a:ext cx="5206345" cy="5379085"/>
            <a:chOff x="0" y="0"/>
            <a:chExt cx="1371218" cy="141671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71218" cy="1416714"/>
            </a:xfrm>
            <a:custGeom>
              <a:avLst/>
              <a:gdLst/>
              <a:ahLst/>
              <a:cxnLst/>
              <a:rect l="l" t="t" r="r" b="b"/>
              <a:pathLst>
                <a:path w="1371218" h="1416714">
                  <a:moveTo>
                    <a:pt x="75838" y="0"/>
                  </a:moveTo>
                  <a:lnTo>
                    <a:pt x="1295381" y="0"/>
                  </a:lnTo>
                  <a:cubicBezTo>
                    <a:pt x="1337265" y="0"/>
                    <a:pt x="1371218" y="33954"/>
                    <a:pt x="1371218" y="75838"/>
                  </a:cubicBezTo>
                  <a:lnTo>
                    <a:pt x="1371218" y="1340876"/>
                  </a:lnTo>
                  <a:cubicBezTo>
                    <a:pt x="1371218" y="1360989"/>
                    <a:pt x="1363228" y="1380279"/>
                    <a:pt x="1349006" y="1394501"/>
                  </a:cubicBezTo>
                  <a:cubicBezTo>
                    <a:pt x="1334784" y="1408724"/>
                    <a:pt x="1315494" y="1416714"/>
                    <a:pt x="1295381" y="1416714"/>
                  </a:cubicBezTo>
                  <a:lnTo>
                    <a:pt x="75838" y="1416714"/>
                  </a:lnTo>
                  <a:cubicBezTo>
                    <a:pt x="55724" y="1416714"/>
                    <a:pt x="36435" y="1408724"/>
                    <a:pt x="22212" y="1394501"/>
                  </a:cubicBezTo>
                  <a:cubicBezTo>
                    <a:pt x="7990" y="1380279"/>
                    <a:pt x="0" y="1360989"/>
                    <a:pt x="0" y="1340876"/>
                  </a:cubicBezTo>
                  <a:lnTo>
                    <a:pt x="0" y="75838"/>
                  </a:lnTo>
                  <a:cubicBezTo>
                    <a:pt x="0" y="55724"/>
                    <a:pt x="7990" y="36435"/>
                    <a:pt x="22212" y="22212"/>
                  </a:cubicBezTo>
                  <a:cubicBezTo>
                    <a:pt x="36435" y="7990"/>
                    <a:pt x="55724" y="0"/>
                    <a:pt x="75838" y="0"/>
                  </a:cubicBezTo>
                  <a:close/>
                </a:path>
              </a:pathLst>
            </a:custGeom>
            <a:ln w="66675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1371218" cy="14833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endParaRPr lang="en-US" sz="20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endParaRPr lang="en-US" sz="20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endParaRPr lang="en-US" sz="20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endParaRPr lang="en-US" sz="20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algn="ctr"/>
              <a:endParaRPr lang="en-US" sz="20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algn="ctr"/>
              <a:r>
                <a:rPr lang="en-US" sz="2000" b="1" dirty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Data Insight:</a:t>
              </a:r>
              <a:r>
                <a:rPr lang="en-US" sz="2000" dirty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 Analysis indicates over 600 customers churned due to superior competitor devices and better offers.</a:t>
              </a:r>
            </a:p>
            <a:p>
              <a:pPr algn="ctr"/>
              <a:r>
                <a:rPr lang="en-US" sz="2000" dirty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 </a:t>
              </a:r>
            </a:p>
            <a:p>
              <a:pPr algn="ctr"/>
              <a:r>
                <a:rPr lang="en-US" sz="2000" b="1" dirty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Action:</a:t>
              </a:r>
              <a:r>
                <a:rPr lang="en-US" sz="2000" dirty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 Launch a targeted retention campaign offering free high-performance router upgrades for existing Fiber Optic customers, and review pricing models to maintain market competitiveness.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335845" y="3583392"/>
            <a:ext cx="4598047" cy="1159467"/>
            <a:chOff x="0" y="0"/>
            <a:chExt cx="1211008" cy="30537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211008" cy="305374"/>
            </a:xfrm>
            <a:custGeom>
              <a:avLst/>
              <a:gdLst/>
              <a:ahLst/>
              <a:cxnLst/>
              <a:rect l="l" t="t" r="r" b="b"/>
              <a:pathLst>
                <a:path w="1211008" h="305374">
                  <a:moveTo>
                    <a:pt x="52196" y="0"/>
                  </a:moveTo>
                  <a:lnTo>
                    <a:pt x="1158812" y="0"/>
                  </a:lnTo>
                  <a:cubicBezTo>
                    <a:pt x="1187639" y="0"/>
                    <a:pt x="1211008" y="23369"/>
                    <a:pt x="1211008" y="52196"/>
                  </a:cubicBezTo>
                  <a:lnTo>
                    <a:pt x="1211008" y="253178"/>
                  </a:lnTo>
                  <a:cubicBezTo>
                    <a:pt x="1211008" y="282005"/>
                    <a:pt x="1187639" y="305374"/>
                    <a:pt x="1158812" y="305374"/>
                  </a:cubicBezTo>
                  <a:lnTo>
                    <a:pt x="52196" y="305374"/>
                  </a:lnTo>
                  <a:cubicBezTo>
                    <a:pt x="38353" y="305374"/>
                    <a:pt x="25076" y="299875"/>
                    <a:pt x="15288" y="290086"/>
                  </a:cubicBezTo>
                  <a:cubicBezTo>
                    <a:pt x="5499" y="280297"/>
                    <a:pt x="0" y="267021"/>
                    <a:pt x="0" y="253178"/>
                  </a:cubicBezTo>
                  <a:lnTo>
                    <a:pt x="0" y="52196"/>
                  </a:lnTo>
                  <a:cubicBezTo>
                    <a:pt x="0" y="23369"/>
                    <a:pt x="23369" y="0"/>
                    <a:pt x="52196" y="0"/>
                  </a:cubicBezTo>
                  <a:close/>
                </a:path>
              </a:pathLst>
            </a:custGeom>
            <a:solidFill>
              <a:srgbClr val="4119FF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66675"/>
              <a:ext cx="1211008" cy="37204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052955" y="3175036"/>
            <a:ext cx="5206345" cy="5279526"/>
            <a:chOff x="0" y="0"/>
            <a:chExt cx="1371218" cy="139049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371218" cy="1390493"/>
            </a:xfrm>
            <a:custGeom>
              <a:avLst/>
              <a:gdLst/>
              <a:ahLst/>
              <a:cxnLst/>
              <a:rect l="l" t="t" r="r" b="b"/>
              <a:pathLst>
                <a:path w="1371218" h="1390493">
                  <a:moveTo>
                    <a:pt x="75838" y="0"/>
                  </a:moveTo>
                  <a:lnTo>
                    <a:pt x="1295381" y="0"/>
                  </a:lnTo>
                  <a:cubicBezTo>
                    <a:pt x="1337265" y="0"/>
                    <a:pt x="1371218" y="33954"/>
                    <a:pt x="1371218" y="75838"/>
                  </a:cubicBezTo>
                  <a:lnTo>
                    <a:pt x="1371218" y="1314655"/>
                  </a:lnTo>
                  <a:cubicBezTo>
                    <a:pt x="1371218" y="1334768"/>
                    <a:pt x="1363228" y="1354058"/>
                    <a:pt x="1349006" y="1368280"/>
                  </a:cubicBezTo>
                  <a:cubicBezTo>
                    <a:pt x="1334784" y="1382503"/>
                    <a:pt x="1315494" y="1390493"/>
                    <a:pt x="1295381" y="1390493"/>
                  </a:cubicBezTo>
                  <a:lnTo>
                    <a:pt x="75838" y="1390493"/>
                  </a:lnTo>
                  <a:cubicBezTo>
                    <a:pt x="55724" y="1390493"/>
                    <a:pt x="36435" y="1382503"/>
                    <a:pt x="22212" y="1368280"/>
                  </a:cubicBezTo>
                  <a:cubicBezTo>
                    <a:pt x="7990" y="1354058"/>
                    <a:pt x="0" y="1334768"/>
                    <a:pt x="0" y="1314655"/>
                  </a:cubicBezTo>
                  <a:lnTo>
                    <a:pt x="0" y="75838"/>
                  </a:lnTo>
                  <a:cubicBezTo>
                    <a:pt x="0" y="55724"/>
                    <a:pt x="7990" y="36435"/>
                    <a:pt x="22212" y="22212"/>
                  </a:cubicBezTo>
                  <a:cubicBezTo>
                    <a:pt x="36435" y="7990"/>
                    <a:pt x="55724" y="0"/>
                    <a:pt x="75838" y="0"/>
                  </a:cubicBezTo>
                  <a:close/>
                </a:path>
              </a:pathLst>
            </a:custGeom>
            <a:ln w="66675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1371218" cy="14476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/>
              <a:endParaRPr lang="en-US" sz="20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algn="ctr"/>
              <a:endParaRPr lang="en-US" sz="20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algn="ctr"/>
              <a:endParaRPr lang="en-US" sz="20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algn="ctr"/>
              <a:endParaRPr lang="en-US" sz="20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algn="ctr"/>
              <a:endParaRPr lang="en-US" sz="20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algn="ctr"/>
              <a:endParaRPr lang="en-US" sz="20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algn="ctr"/>
              <a:r>
                <a:rPr lang="en-US" sz="2000" b="1" dirty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Data Insight:</a:t>
              </a:r>
              <a:r>
                <a:rPr lang="en-US" sz="2000" dirty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 Month-to-Month contracts represent the highest churn vulnerability and the primary driver of revenue leakage. </a:t>
              </a:r>
            </a:p>
            <a:p>
              <a:pPr algn="ctr"/>
              <a:endParaRPr lang="en-US" sz="20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algn="ctr"/>
              <a:r>
                <a:rPr lang="en-US" sz="2000" b="1" dirty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Action:</a:t>
              </a:r>
              <a:r>
                <a:rPr lang="en-US" sz="2000" dirty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 Deploy automated, time-sensitive incentives (e.g., a 10% loyalty discount or one free month) to encourage Month-to-Month users to transition into stable One-Year or Two-Year agreements. 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542321" y="3175036"/>
            <a:ext cx="5206345" cy="5279526"/>
            <a:chOff x="0" y="0"/>
            <a:chExt cx="1371218" cy="139049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371218" cy="1390493"/>
            </a:xfrm>
            <a:custGeom>
              <a:avLst/>
              <a:gdLst/>
              <a:ahLst/>
              <a:cxnLst/>
              <a:rect l="l" t="t" r="r" b="b"/>
              <a:pathLst>
                <a:path w="1371218" h="1390493">
                  <a:moveTo>
                    <a:pt x="75838" y="0"/>
                  </a:moveTo>
                  <a:lnTo>
                    <a:pt x="1295381" y="0"/>
                  </a:lnTo>
                  <a:cubicBezTo>
                    <a:pt x="1337265" y="0"/>
                    <a:pt x="1371218" y="33954"/>
                    <a:pt x="1371218" y="75838"/>
                  </a:cubicBezTo>
                  <a:lnTo>
                    <a:pt x="1371218" y="1314655"/>
                  </a:lnTo>
                  <a:cubicBezTo>
                    <a:pt x="1371218" y="1334768"/>
                    <a:pt x="1363228" y="1354058"/>
                    <a:pt x="1349006" y="1368280"/>
                  </a:cubicBezTo>
                  <a:cubicBezTo>
                    <a:pt x="1334784" y="1382503"/>
                    <a:pt x="1315494" y="1390493"/>
                    <a:pt x="1295381" y="1390493"/>
                  </a:cubicBezTo>
                  <a:lnTo>
                    <a:pt x="75838" y="1390493"/>
                  </a:lnTo>
                  <a:cubicBezTo>
                    <a:pt x="55724" y="1390493"/>
                    <a:pt x="36435" y="1382503"/>
                    <a:pt x="22212" y="1368280"/>
                  </a:cubicBezTo>
                  <a:cubicBezTo>
                    <a:pt x="7990" y="1354058"/>
                    <a:pt x="0" y="1334768"/>
                    <a:pt x="0" y="1314655"/>
                  </a:cubicBezTo>
                  <a:lnTo>
                    <a:pt x="0" y="75838"/>
                  </a:lnTo>
                  <a:cubicBezTo>
                    <a:pt x="0" y="55724"/>
                    <a:pt x="7990" y="36435"/>
                    <a:pt x="22212" y="22212"/>
                  </a:cubicBezTo>
                  <a:cubicBezTo>
                    <a:pt x="36435" y="7990"/>
                    <a:pt x="55724" y="0"/>
                    <a:pt x="75838" y="0"/>
                  </a:cubicBezTo>
                  <a:close/>
                </a:path>
              </a:pathLst>
            </a:custGeom>
            <a:ln w="66675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1371218" cy="14476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/>
              <a:endParaRPr lang="en-US" sz="20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algn="ctr"/>
              <a:endParaRPr lang="en-US" sz="20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algn="ctr"/>
              <a:endParaRPr lang="en-US" sz="20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algn="ctr"/>
              <a:endParaRPr lang="en-US" sz="20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algn="ctr"/>
              <a:endParaRPr lang="en-US" sz="20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algn="ctr"/>
              <a:r>
                <a:rPr lang="en-US" sz="2000" b="1" dirty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Data Insight:</a:t>
              </a:r>
              <a:r>
                <a:rPr lang="en-US" sz="2000" dirty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 SQL queries revealed 220 customer drop-offs directly attributed to poor support personnel attitude. </a:t>
              </a:r>
            </a:p>
            <a:p>
              <a:pPr algn="ctr"/>
              <a:endParaRPr lang="en-US" sz="20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algn="ctr"/>
              <a:r>
                <a:rPr lang="en-US" sz="2000" b="1" dirty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Action:</a:t>
              </a:r>
              <a:r>
                <a:rPr lang="en-US" sz="2000" dirty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 Implement mandatory customer empathy and technical refresher training for all support agents, and tie a portion of performance incentives directly to Customer Satisfaction (CSAT) scores.</a:t>
              </a:r>
            </a:p>
          </p:txBody>
        </p:sp>
      </p:grpSp>
      <p:sp>
        <p:nvSpPr>
          <p:cNvPr id="15" name="Freeform 15"/>
          <p:cNvSpPr/>
          <p:nvPr/>
        </p:nvSpPr>
        <p:spPr>
          <a:xfrm>
            <a:off x="15096361" y="1028700"/>
            <a:ext cx="2162939" cy="1183717"/>
          </a:xfrm>
          <a:custGeom>
            <a:avLst/>
            <a:gdLst/>
            <a:ahLst/>
            <a:cxnLst/>
            <a:rect l="l" t="t" r="r" b="b"/>
            <a:pathLst>
              <a:path w="2162939" h="1183717">
                <a:moveTo>
                  <a:pt x="0" y="0"/>
                </a:moveTo>
                <a:lnTo>
                  <a:pt x="2162939" y="0"/>
                </a:lnTo>
                <a:lnTo>
                  <a:pt x="2162939" y="1183717"/>
                </a:lnTo>
                <a:lnTo>
                  <a:pt x="0" y="118371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6" name="Group 16"/>
          <p:cNvGrpSpPr/>
          <p:nvPr/>
        </p:nvGrpSpPr>
        <p:grpSpPr>
          <a:xfrm>
            <a:off x="6842896" y="3583392"/>
            <a:ext cx="4598047" cy="1159467"/>
            <a:chOff x="0" y="0"/>
            <a:chExt cx="1211008" cy="305374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211008" cy="305374"/>
            </a:xfrm>
            <a:custGeom>
              <a:avLst/>
              <a:gdLst/>
              <a:ahLst/>
              <a:cxnLst/>
              <a:rect l="l" t="t" r="r" b="b"/>
              <a:pathLst>
                <a:path w="1211008" h="305374">
                  <a:moveTo>
                    <a:pt x="52196" y="0"/>
                  </a:moveTo>
                  <a:lnTo>
                    <a:pt x="1158812" y="0"/>
                  </a:lnTo>
                  <a:cubicBezTo>
                    <a:pt x="1187639" y="0"/>
                    <a:pt x="1211008" y="23369"/>
                    <a:pt x="1211008" y="52196"/>
                  </a:cubicBezTo>
                  <a:lnTo>
                    <a:pt x="1211008" y="253178"/>
                  </a:lnTo>
                  <a:cubicBezTo>
                    <a:pt x="1211008" y="282005"/>
                    <a:pt x="1187639" y="305374"/>
                    <a:pt x="1158812" y="305374"/>
                  </a:cubicBezTo>
                  <a:lnTo>
                    <a:pt x="52196" y="305374"/>
                  </a:lnTo>
                  <a:cubicBezTo>
                    <a:pt x="38353" y="305374"/>
                    <a:pt x="25076" y="299875"/>
                    <a:pt x="15288" y="290086"/>
                  </a:cubicBezTo>
                  <a:cubicBezTo>
                    <a:pt x="5499" y="280297"/>
                    <a:pt x="0" y="267021"/>
                    <a:pt x="0" y="253178"/>
                  </a:cubicBezTo>
                  <a:lnTo>
                    <a:pt x="0" y="52196"/>
                  </a:lnTo>
                  <a:cubicBezTo>
                    <a:pt x="0" y="23369"/>
                    <a:pt x="23369" y="0"/>
                    <a:pt x="52196" y="0"/>
                  </a:cubicBezTo>
                  <a:close/>
                </a:path>
              </a:pathLst>
            </a:custGeom>
            <a:solidFill>
              <a:srgbClr val="4119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66675"/>
              <a:ext cx="1211008" cy="37204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6985371" y="3757980"/>
            <a:ext cx="4328981" cy="7971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20"/>
              </a:lnSpc>
              <a:spcBef>
                <a:spcPct val="0"/>
              </a:spcBef>
            </a:pPr>
            <a:r>
              <a:rPr lang="en-US" sz="22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Upgrade Customer Support Quality &amp; Training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2358266" y="3583392"/>
            <a:ext cx="4598047" cy="1159467"/>
            <a:chOff x="0" y="0"/>
            <a:chExt cx="1211008" cy="305374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11008" cy="305374"/>
            </a:xfrm>
            <a:custGeom>
              <a:avLst/>
              <a:gdLst/>
              <a:ahLst/>
              <a:cxnLst/>
              <a:rect l="l" t="t" r="r" b="b"/>
              <a:pathLst>
                <a:path w="1211008" h="305374">
                  <a:moveTo>
                    <a:pt x="52196" y="0"/>
                  </a:moveTo>
                  <a:lnTo>
                    <a:pt x="1158812" y="0"/>
                  </a:lnTo>
                  <a:cubicBezTo>
                    <a:pt x="1187639" y="0"/>
                    <a:pt x="1211008" y="23369"/>
                    <a:pt x="1211008" y="52196"/>
                  </a:cubicBezTo>
                  <a:lnTo>
                    <a:pt x="1211008" y="253178"/>
                  </a:lnTo>
                  <a:cubicBezTo>
                    <a:pt x="1211008" y="282005"/>
                    <a:pt x="1187639" y="305374"/>
                    <a:pt x="1158812" y="305374"/>
                  </a:cubicBezTo>
                  <a:lnTo>
                    <a:pt x="52196" y="305374"/>
                  </a:lnTo>
                  <a:cubicBezTo>
                    <a:pt x="38353" y="305374"/>
                    <a:pt x="25076" y="299875"/>
                    <a:pt x="15288" y="290086"/>
                  </a:cubicBezTo>
                  <a:cubicBezTo>
                    <a:pt x="5499" y="280297"/>
                    <a:pt x="0" y="267021"/>
                    <a:pt x="0" y="253178"/>
                  </a:cubicBezTo>
                  <a:lnTo>
                    <a:pt x="0" y="52196"/>
                  </a:lnTo>
                  <a:cubicBezTo>
                    <a:pt x="0" y="23369"/>
                    <a:pt x="23369" y="0"/>
                    <a:pt x="52196" y="0"/>
                  </a:cubicBezTo>
                  <a:close/>
                </a:path>
              </a:pathLst>
            </a:custGeom>
            <a:solidFill>
              <a:srgbClr val="4119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66675"/>
              <a:ext cx="1211008" cy="37204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2291335" y="3738095"/>
            <a:ext cx="4729584" cy="7971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20"/>
              </a:lnSpc>
              <a:spcBef>
                <a:spcPct val="0"/>
              </a:spcBef>
            </a:pPr>
            <a:r>
              <a:rPr lang="en-US" sz="22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Stabilize Month-to-Month Contracts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798849" y="1345921"/>
            <a:ext cx="8686140" cy="654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900"/>
              </a:lnSpc>
            </a:pPr>
            <a:r>
              <a:rPr lang="en-US" sz="5000">
                <a:solidFill>
                  <a:srgbClr val="FFFFFF"/>
                </a:solidFill>
                <a:latin typeface="Tex Gyre Termes"/>
                <a:ea typeface="Tex Gyre Termes"/>
                <a:cs typeface="Tex Gyre Termes"/>
                <a:sym typeface="Tex Gyre Termes"/>
              </a:rPr>
              <a:t>Executiv</a:t>
            </a:r>
            <a:r>
              <a:rPr lang="en-US" sz="5000" u="none" strike="noStrike">
                <a:solidFill>
                  <a:srgbClr val="FFFFFF"/>
                </a:solidFill>
                <a:latin typeface="Tex Gyre Termes"/>
                <a:ea typeface="Tex Gyre Termes"/>
                <a:cs typeface="Tex Gyre Termes"/>
                <a:sym typeface="Tex Gyre Termes"/>
              </a:rPr>
              <a:t>e Recommendations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207688" y="1914246"/>
            <a:ext cx="9875611" cy="688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600"/>
              </a:lnSpc>
              <a:spcBef>
                <a:spcPct val="0"/>
              </a:spcBef>
            </a:pPr>
            <a:r>
              <a:rPr lang="en-US" sz="4000">
                <a:solidFill>
                  <a:srgbClr val="FFFFFF"/>
                </a:solidFill>
                <a:latin typeface="Tex Gyre Termes"/>
                <a:ea typeface="Tex Gyre Termes"/>
                <a:cs typeface="Tex Gyre Termes"/>
                <a:sym typeface="Tex Gyre Termes"/>
              </a:rPr>
              <a:t>Data-D</a:t>
            </a:r>
            <a:r>
              <a:rPr lang="en-US" sz="4000" u="none" strike="noStrike">
                <a:solidFill>
                  <a:srgbClr val="FFFFFF"/>
                </a:solidFill>
                <a:latin typeface="Tex Gyre Termes"/>
                <a:ea typeface="Tex Gyre Termes"/>
                <a:cs typeface="Tex Gyre Termes"/>
                <a:sym typeface="Tex Gyre Termes"/>
              </a:rPr>
              <a:t>riven Actions for Revenue Protection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563EC8-A042-B2C1-386D-E52AA64D7EA4}"/>
              </a:ext>
            </a:extLst>
          </p:cNvPr>
          <p:cNvSpPr txBox="1"/>
          <p:nvPr/>
        </p:nvSpPr>
        <p:spPr>
          <a:xfrm>
            <a:off x="1227504" y="3738095"/>
            <a:ext cx="4778137" cy="889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220"/>
              </a:lnSpc>
              <a:spcBef>
                <a:spcPct val="0"/>
              </a:spcBef>
            </a:pPr>
            <a:r>
              <a:rPr lang="en-US" sz="22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Revamp Fiber optic Value proposition &amp; Equipment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4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42998" y="6392352"/>
            <a:ext cx="5454138" cy="975366"/>
            <a:chOff x="-29840" y="-28575"/>
            <a:chExt cx="1436481" cy="25688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06641" cy="199737"/>
            </a:xfrm>
            <a:custGeom>
              <a:avLst/>
              <a:gdLst/>
              <a:ahLst/>
              <a:cxnLst/>
              <a:rect l="l" t="t" r="r" b="b"/>
              <a:pathLst>
                <a:path w="1406641" h="199737">
                  <a:moveTo>
                    <a:pt x="73928" y="0"/>
                  </a:moveTo>
                  <a:lnTo>
                    <a:pt x="1332713" y="0"/>
                  </a:lnTo>
                  <a:cubicBezTo>
                    <a:pt x="1373542" y="0"/>
                    <a:pt x="1406641" y="33099"/>
                    <a:pt x="1406641" y="73928"/>
                  </a:cubicBezTo>
                  <a:lnTo>
                    <a:pt x="1406641" y="125809"/>
                  </a:lnTo>
                  <a:cubicBezTo>
                    <a:pt x="1406641" y="166638"/>
                    <a:pt x="1373542" y="199737"/>
                    <a:pt x="1332713" y="199737"/>
                  </a:cubicBezTo>
                  <a:lnTo>
                    <a:pt x="73928" y="199737"/>
                  </a:lnTo>
                  <a:cubicBezTo>
                    <a:pt x="33099" y="199737"/>
                    <a:pt x="0" y="166638"/>
                    <a:pt x="0" y="125809"/>
                  </a:cubicBezTo>
                  <a:lnTo>
                    <a:pt x="0" y="73928"/>
                  </a:lnTo>
                  <a:cubicBezTo>
                    <a:pt x="0" y="33099"/>
                    <a:pt x="33099" y="0"/>
                    <a:pt x="73928" y="0"/>
                  </a:cubicBezTo>
                  <a:close/>
                </a:path>
              </a:pathLst>
            </a:custGeom>
            <a:solidFill>
              <a:srgbClr val="4119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-29840" y="-28575"/>
              <a:ext cx="1406641" cy="2568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39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Lama </a:t>
              </a:r>
              <a:r>
                <a:rPr lang="en-US" sz="2400" b="1" dirty="0" err="1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Alhaidari</a:t>
              </a:r>
              <a:endParaRPr lang="en-US" sz="24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5" name="Freeform 5"/>
          <p:cNvSpPr/>
          <p:nvPr/>
        </p:nvSpPr>
        <p:spPr>
          <a:xfrm>
            <a:off x="15096361" y="1028700"/>
            <a:ext cx="2162939" cy="1183717"/>
          </a:xfrm>
          <a:custGeom>
            <a:avLst/>
            <a:gdLst/>
            <a:ahLst/>
            <a:cxnLst/>
            <a:rect l="l" t="t" r="r" b="b"/>
            <a:pathLst>
              <a:path w="2162939" h="1183717">
                <a:moveTo>
                  <a:pt x="0" y="0"/>
                </a:moveTo>
                <a:lnTo>
                  <a:pt x="2162939" y="0"/>
                </a:lnTo>
                <a:lnTo>
                  <a:pt x="2162939" y="1183717"/>
                </a:lnTo>
                <a:lnTo>
                  <a:pt x="0" y="118371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028700" y="8055636"/>
            <a:ext cx="2162939" cy="1183717"/>
          </a:xfrm>
          <a:custGeom>
            <a:avLst/>
            <a:gdLst/>
            <a:ahLst/>
            <a:cxnLst/>
            <a:rect l="l" t="t" r="r" b="b"/>
            <a:pathLst>
              <a:path w="2162939" h="1183717">
                <a:moveTo>
                  <a:pt x="0" y="0"/>
                </a:moveTo>
                <a:lnTo>
                  <a:pt x="2162939" y="0"/>
                </a:lnTo>
                <a:lnTo>
                  <a:pt x="2162939" y="1183718"/>
                </a:lnTo>
                <a:lnTo>
                  <a:pt x="0" y="118371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1028700" y="3291662"/>
            <a:ext cx="8282942" cy="12928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0640"/>
              </a:lnSpc>
              <a:spcBef>
                <a:spcPct val="0"/>
              </a:spcBef>
            </a:pPr>
            <a:r>
              <a:rPr lang="en-US" sz="7600" u="none" strike="noStrike">
                <a:solidFill>
                  <a:srgbClr val="FFFFFF"/>
                </a:solidFill>
                <a:latin typeface="Tex Gyre Termes"/>
                <a:ea typeface="Tex Gyre Termes"/>
                <a:cs typeface="Tex Gyre Termes"/>
                <a:sym typeface="Tex Gyre Termes"/>
              </a:rPr>
              <a:t>Thank you</a:t>
            </a:r>
          </a:p>
        </p:txBody>
      </p:sp>
      <p:sp>
        <p:nvSpPr>
          <p:cNvPr id="8" name="Freeform 8"/>
          <p:cNvSpPr/>
          <p:nvPr/>
        </p:nvSpPr>
        <p:spPr>
          <a:xfrm>
            <a:off x="10400265" y="1919962"/>
            <a:ext cx="5204037" cy="6360489"/>
          </a:xfrm>
          <a:custGeom>
            <a:avLst/>
            <a:gdLst/>
            <a:ahLst/>
            <a:cxnLst/>
            <a:rect l="l" t="t" r="r" b="b"/>
            <a:pathLst>
              <a:path w="5204037" h="6360489">
                <a:moveTo>
                  <a:pt x="0" y="0"/>
                </a:moveTo>
                <a:lnTo>
                  <a:pt x="5204037" y="0"/>
                </a:lnTo>
                <a:lnTo>
                  <a:pt x="5204037" y="6360490"/>
                </a:lnTo>
                <a:lnTo>
                  <a:pt x="0" y="636049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webextension1.xml><?xml version="1.0" encoding="utf-8"?>
<we:webextension xmlns:we="http://schemas.microsoft.com/office/webextensions/webextension/2010/11" id="{6D128954-C51C-4B2B-880F-EC2062678BF7}">
  <we:reference id="wa200003233" version="2.0.0.3" store="en-US" storeType="OMEX"/>
  <we:alternateReferences>
    <we:reference id="WA200003233" version="2.0.0.3" store="WA200003233" storeType="OMEX"/>
  </we:alternateReferences>
  <we:properties>
    <we:property name="reportUrl" value="&quot;/links/yGvO4U0-5r?ctid=19df06c3-3fcd-4947-809f-064684abf608&amp;pbi_source=linkShare&quot;"/>
    <we:property name="reportName" value="&quot;Telecom_Churn_Executive_Dashboard&quot;"/>
    <we:property name="reportState" value="&quot;CONNECTED&quot;"/>
    <we:property name="embedUrl" value="&quot;/reportEmbed?reportId=df0265bb-10bc-4507-8314-108b9df1a897&amp;config=eyJjbHVzdGVyVXJsIjoiaHR0cHM6Ly9XQUJJLVdFU1QtRVVST1BFLUYtUFJJTUFSWS1yZWRpcmVjdC5hbmFseXNpcy53aW5kb3dzLm5ldCIsImVtYmVkRmVhdHVyZXMiOnsidXNhZ2VNZXRyaWNzVk5leHQiOnRydWV9fQ%3D%3D&amp;disableSensitivityBanner=true&amp;storytellingChangeViewModeShortcutKeys=true&quot;"/>
    <we:property name="pageDisplayName" value="&quot;Page 1&quot;"/>
    <we:property name="datasetId" value="&quot;ab1a3f36-e940-4513-899a-dcbf8c5a0416&quot;"/>
    <we:property name="backgroundColor" value="&quot;#FFFFFF&quot;"/>
    <we:property name="bookmark" value="&quot;H4sIAAAAAAAAA+1YbU/bMBD+K1E+V1Oc9/CtdEyaBBMCtC8TQuf4UgKpHTlO1w71v+/sBA1YxyQGrHvplzZ3F/ue5x7fJb3xRd21Daw/wAL9PX9fqesF6GuP+RNfDrYUGE9DwTKIMMhYylgRk1e1play8/dufAN6juZj3fXQ2IXI+Ol84kPTHMPcXlXQdDjxW9SdktDUX3AIJpfRPW4mPq7aRmmwS54aMGiXXVI4XVMK7E1EO0Jp6iWeYmkGaxnyGHmY8gqqHHmV5FFOYd0Q4DLbGmKXdtvPlDRQS9rG2rAQKfAgS0TCihR5HgahtVd1Y8YQvj5YtZrQEeZ1a8mZiiXIEoXvIGjshoxv/COErtcOx8E9x6nqdYknWDmXNLVZWyyXvZYXZYMgLzh06G+IlGOtiDLnn0rZO+KEd4JLlD16h6rrXNil+jzTSKQJfy/YnJOlq+W8GTn+BvdsSLkELUYXVZFfEV0WHN2mtEC9v3b43tb6luhw8gDCq2EjMBTKwhLjJCrSMM+DsIgxDrKfFmZGfMyVrksH835tZqrpF/K50p9Zv3cIHJst5Zi8ulTOlIHG+57Up2hFKNmb2SVosyNaeQTc5vy2RVD81Z0mMEphyPUla09qJXecZLwso7gQYSliwQHCZIfk+l5SFhKN50q8C4J9zt7W9B3BQzFwtkvKfazLvb5wH6pgkK7AIkvjKoUs5lEQhTnL450ZgcPRdyeOOJxRodXCJvU3jMAfYxtGYBQVCUDAgjIMg4BhEEHw9MI8r5TOSMsavVp6R/Q8dbmtIJM/cSxP53ONczDj5cFL5joW3LPPvv3A4LtejuJLnqDwzkB5jWJKt/xSE9wlEn5Hn9wi7nHK8ywTjGVplCR5xYI4DsQOTXn7aqOJrP8D/h8d8HcEMApWRLwQPIpYwLIqi1IeR3bFR+k2uDJcre4z7D53LT6d2rnjUfWma6HEY5DoQLVDRjUOr9irFqRAMf7W9vuwpnoOW3+Epre7ur8LfLeNzX3zFQWph/KmEAAA&quot;"/>
    <we:property name="initialStateBookmark" value="&quot;H4sIAAAAAAAAA+1Y207bQBD9FWufo8rX2OEtpFSquBQB4qVCaNY7dgxm11qvaVKUf+/s2qhAU5Ao0PSSF8cz4505Z453bN8wUbVNDcsDuEK2xbaVurwCfekFbMTkYPv0aXd/erR7fjDd3yGzakylZMu2bpgBXaI5rdoOarsCGT+fjRjU9SGU9qyAusURa1C3SkJdfcU+mFxGd7gaMVw0tdJglzw2YNAue03hdE65g3cRZYTcVNd4jLnprXnIY+ThmBdQZMiLJIsyCmv7AFfZ2hC7tEs/U9JAJSmNteFEjIH7aSKSYDJGnoV+aO1FVZshhC93Fo0mdIR52VhWpuIaZI6COQga277iG7aP0Hba4di55zhWnc7xCAvnkqYyS4tl3ml5ntcI8pxDi2xFpBxqRZQ5/1TKzhEnvCO8Rtmht6fa1oXN1ZeZRiJNsC1/dUaWtpJlPXD8He5JX3IOWgwu6iK/ILosOLpMaYF6e+nwva/0LdHh6AGEN8NGYCg0CHOMk2gyDrPMDycxxn76ZGNmxEepdJU7mPd7M1N1dyVfqvyZ9Xt7wLFe047Rm0vlRBmovR9JfY5WhJKdmc1Bmw3RyiPgVme3WwTFX9zZBAYp9LW+Zu9JreSOk5TneRRPRJiLWHCAMNkguX6UVIVE47kWb4JgX3Jvq7uW4KHoOdsk5T62y729cB+qoJeuwEk6josxpDGP/CjMgizemBHY3/rujiMOZ9RodWWL+htG4M+x9SMwiiYJgB/4eRj6foB+BP7zG/OyUjohLWv0Kunt0/PUfF1DRn/iWJ6WpcYSzHC685q1Dg337LNv1zP4oZOD+JJnKLw1kF+imNIlv7QJbhIJv2OfXCPuYcrzNBVBkI6jJMmKwI9jX2zQlLevNprI+j/g/9EBf0cAg2BFxCeCR1HgB2mRRmMeR3bFR+k2uDBcLe4z7H53LYzu2tLxqDrTNpDjIUh0oJq+ogr7V+xFA1KgGP5re9yrqJ996lOoO5vVfS5gLglVU/Ean7jAfkRgriyLdfUNi4FDtc8QAAA=&quot;"/>
    <we:property name="isFiltersActionButtonVisible" value="true"/>
    <we:property name="isVisualContainerHeaderHidden" value="false"/>
    <we:property name="reportEmbeddedTime" value="&quot;2026-07-20T21:03:46.366Z&quot;"/>
    <we:property name="creatorTenantId" value="&quot;19df06c3-3fcd-4947-809f-064684abf608&quot;"/>
    <we:property name="creatorUserId" value="&quot;1003200163C6180A&quot;"/>
    <we:property name="creatorSessionId" value="&quot;74e9fcf4-d0ab-41a3-a790-db604f7eee96&quot;"/>
    <we:property name="artifactViewState" value="&quot;liv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581</TotalTime>
  <Words>409</Words>
  <Application>Microsoft Office PowerPoint</Application>
  <PresentationFormat>Custom</PresentationFormat>
  <Paragraphs>62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Tex Gyre Termes Bold</vt:lpstr>
      <vt:lpstr>Calibri</vt:lpstr>
      <vt:lpstr>Arial</vt:lpstr>
      <vt:lpstr>Tex Gyre Termes</vt:lpstr>
      <vt:lpstr>Poppins</vt:lpstr>
      <vt:lpstr>Poppins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Dark Blue Modern Data Analyst Presentation</dc:title>
  <cp:lastModifiedBy>لمى الحيدري ID 443200831</cp:lastModifiedBy>
  <cp:revision>6</cp:revision>
  <dcterms:created xsi:type="dcterms:W3CDTF">2006-08-16T00:00:00Z</dcterms:created>
  <dcterms:modified xsi:type="dcterms:W3CDTF">2026-07-21T03:00:21Z</dcterms:modified>
  <dc:identifier>DAHP4UkE7cc</dc:identifier>
</cp:coreProperties>
</file>